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20 seconds. Introduce the question: can financial and market signals improve cross-sectional stock selection after stated trading costs? Identify five methods, the common opportunity set and the observed historical dates.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70 seconds. Read every method, including Lasso: its 2021–2025 net return is 96.10%, and its 2026 net return is 7.52%. Ridge remains the original reference implementation. Compare net returns and summed daily excess separately. Absolute returns compound; excess sums daily differences.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50 seconds. Explain profitability, cash conversion, signed value and balance-sheet dynamics, then momentum, volatility and turnover. Negative book values and earnings are retained. F4 and T4 remain saved columns but are unused by the pool and final models. Candidate mechanisms motivate the study; fixed annual selections and directions come from the published configuration, not a new search.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55 seconds. Describe historical membership, non-ST and listing-age screens, ordinary A-share codes, trading status and the finite fourteen-input common mask. The original sixteen-column panel is preserved. Report period and both announcement dates are checked against the signal day, while later supplier revisions cannot be independently excluded. Missing inputs stay missing, and future label availability never determines current eligibility.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75 seconds. Walk through input ranks, the annual fit, industry and within-industry log-capitalization residualization, and the causal EMA followed by ranks. State the Ridge alpha and shallow-tree settings. Training uses the absolute every-fifth-session grid and a strictly mature t+21 exit. The 2018–2020 history is fitted replay. From 2021, annual predictions use mature prior labels. Returns and NAV are not smoothed.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65 seconds. Differentiate daily signals and valuation from twenty-session targets. Gross and net books hold separate cash and securities. Explain T+1, opening limits, suspended orders and retries. The benchmark uses the same pool, frequency, rules and matching fees. Explain exchange and cash claims, cash released only after payment, documented settlement-date assumptions, and the zero-recovery end-date policy for unresolved positions. Synthetic adjusted units approximate dividend reinvestment.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50 seconds. Read the complete gross return history. Include all five methods and the pool rather than only the winner. Wealth compounds daily portfolio returns. The initial flat section precedes feasible trading, and the early history is fitted replay. There is no yearly restart or clipped weak interval.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60 seconds. Compare this net chart with the preceding gross chart. Costs are charged inside the cash ledger and influence later holdings, so the compounded gross-minus-net wealth difference is not a pure fee sum. Keep every method visible and use the table for the weaker latest-year results.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40 seconds. Excess is an arithmetic sum of daily strategy-minus-matched-pool returns, expressed in percentage points. The pool has zero excess against itself and is explicitly identified. This is not compounded relative wealth or the difference between compounded terminal returns.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65 seconds. Read both strong and weak portions of net excess. The matched pool pays the same cost schedule and obeys the same execution rules. In 2026, Fundamental and LightGBM lag while Combined and Ridge have positive summed excess. The latest period is incomplete; do not present the full-history positive endpoint as evidence that every interval wins.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75 seconds. Compare peak-to-trough net wealth losses with the development return-risk scatter. The panels state their different date ranges. Ridge's full-history maximum decline is slightly deeper than the pool, so higher return is not lower risk. Explain annualized volatility and a zero risk-free-rate Sharpe convention if asked.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55 seconds. Read positive and negative monthly cells. Months sum daily net return differences, and future months are blank or dashed rather than zero. The latest year stops on 29 April. Discuss visible weak months as well as strong runs; the calendar is descriptive, not an independent repeated experiment.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45 seconds. Annual absolute returns compound within the calendar year, unlike excess sums. Keep negative years visible. Compare 2026 as a partial-year observation rather than a full twelve-month result. Annual portfolio values come from the continuous ledger rather than a new January portfolio reset.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40 seconds. Define the one-half turnover convention and monthly aggregation. Explain why turnover is not zero between scheduled target changes: fills can retry and company events can settle. Gross and net holdings may diverge as costs change available cash. Do not equate the signal EMA span with the rebalance interval.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50 seconds. Read annual stacked commission, slippage and stamp-tax ratios. Each component sums cost divided by that day's opening net NAV, in percentage points. The 2026 column is partial year. These annual sums are not the compounded difference between terminal gross and net NAV. Costs affect cash and subsequent positions, and stamp tax changes on 28 August 2023.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60 seconds. IC measures the entire eligible cross-sectional ranking, not the return of the top hundred holdings. Average ties are retained. Use only labels with observable mature exits, and restrict development diagnostic exits to 2025 year-end. The 2026 signal-label window is shorter. Positive IC need not imply a profitable fee-paying portfolio or a strong extreme tail.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55 seconds. Quintile 1 has low scores and 5 high scores. Groups are assigned before label availability is inspected, with a fixed security-slot tie break. Each original group then averages finite mature labels, minus the observable same-day pool mean. Development exits do not go beyond 2025. Means weight signal dates equally. These overlapping gross cohorts are not a tradable portfolio NAV.</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55 seconds. Show the weaker latest-year diagnostic without hiding it. Only signals whose twenty-session exit is observed by 29 April enter the panel; the final mature signal is 30 March. Explain the limited fifty-five-date sample, overlapping labels and nearly complete observed-label coverage. In particular, the highest group need not beat the middle groups or the same-pool mean. This is signal diagnosis before trading costs.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65 seconds. Explain the L1 versus L2 comparison using the displayed annual sparse coefficient counts and matched returns. For each year, internal training labels exit before previous-calendar-year validation starts; validation labels exit before the forecast year. Compare 15 alpha fractions with equal-date mean validation MSE, then refit on all mature history. The alpha scale is not Ridge's alpha scale. State whether sparsity actually occurs: Lasso may retain every input. An all-zero annual fit emits no score, so the next scheduled target requests cash subject to blocked-sale constraints; there is no arbitrary code-order Top-100 ranking. Prediction loss and fee-paying Top-100 returns are different objectives. The already reviewed 2026 history is not a new blind test.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30 seconds. Conclude with the actual development comparison and the modest, mixed latest-year evidence. Preserve the unrevised-vintage caveat, synthetic-dividend approximation, company-event assumptions, omitted board lots, minimum commissions and market impact. The early history is fitted replay, and repeated development comparisons can overfit. Invite questions and make sure every group member can explain their assigned part.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0 seconds. Appendix for questions; no main-presentation time allocated. The matrix covers the union of twelve used annual model inputs, averaging same-date cross-sectional Spearman matrices over 243 sampled development dates. It is not a covariance matrix of strategy returns and not an independent test of alpha.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0 seconds. Appendix for questions; no main-presentation time allocated. These are actual final held-capital weights normalized by net NAV, including cash and claims, rather than ideal target weights. A score residualized against industry and log capitalization does not force the executed portfolio to be capital neutral. Explain the visible Q3 overweight and the historical-universe quintile 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0 seconds. Appendix for questions; no main-presentation time allocated. Rolling excess sums the preceding 252 daily matched-cost differences, while rolling volatility annualizes daily net-return dispersion. Windows overlap and are not independent tests. Discuss weak windows as well as strong ones; no new parameter is selected from these charts.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658368"/>
            <a:ext cx="10515600" cy="274320"/>
          </a:xfrm>
          <a:prstGeom prst="rect">
            <a:avLst/>
          </a:prstGeom>
          <a:noFill/>
        </p:spPr>
        <p:txBody>
          <a:bodyPr wrap="none" tIns="0" bIns="0" lIns="0" rIns="0" anchor="t">
            <a:spAutoFit/>
          </a:bodyPr>
          <a:lstStyle/>
          <a:p>
            <a:pPr algn="l">
              <a:lnSpc>
                <a:spcPts val="1568"/>
              </a:lnSpc>
              <a:spcBef>
                <a:spcPts val="0"/>
              </a:spcBef>
              <a:spcAft>
                <a:spcPts val="0"/>
              </a:spcAft>
              <a:defRPr sz="1400" b="1">
                <a:solidFill>
                  <a:srgbClr val="68737E"/>
                </a:solidFill>
                <a:latin typeface="DejaVu Sans"/>
              </a:defRPr>
            </a:pPr>
            <a:r>
              <a:t>INVESTMENTS 1005 / GROUP 9</a:t>
            </a:r>
          </a:p>
        </p:txBody>
      </p:sp>
      <p:sp>
        <p:nvSpPr>
          <p:cNvPr id="3" name="Rectangle 2"/>
          <p:cNvSpPr/>
          <p:nvPr/>
        </p:nvSpPr>
        <p:spPr>
          <a:xfrm>
            <a:off x="777240" y="1161288"/>
            <a:ext cx="1051560" cy="32004"/>
          </a:xfrm>
          <a:prstGeom prst="rect">
            <a:avLst/>
          </a:prstGeom>
          <a:solidFill>
            <a:srgbClr val="007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691640"/>
            <a:ext cx="10607040" cy="1325880"/>
          </a:xfrm>
          <a:prstGeom prst="rect">
            <a:avLst/>
          </a:prstGeom>
          <a:noFill/>
        </p:spPr>
        <p:txBody>
          <a:bodyPr wrap="none" tIns="0" bIns="0" lIns="0" rIns="0" anchor="t">
            <a:spAutoFit/>
          </a:bodyPr>
          <a:lstStyle/>
          <a:p>
            <a:pPr algn="l">
              <a:lnSpc>
                <a:spcPts val="4032"/>
              </a:lnSpc>
              <a:spcBef>
                <a:spcPts val="0"/>
              </a:spcBef>
              <a:spcAft>
                <a:spcPts val="0"/>
              </a:spcAft>
              <a:defRPr sz="3600" b="1">
                <a:solidFill>
                  <a:srgbClr val="17212D"/>
                </a:solidFill>
                <a:latin typeface="DejaVu Sans"/>
              </a:defRPr>
            </a:pPr>
            <a:r>
              <a:t>A-share cross-sectional</a:t>
            </a:r>
            <a:br/>
            <a:r>
              <a:t>stock selection</a:t>
            </a:r>
          </a:p>
        </p:txBody>
      </p:sp>
      <p:sp>
        <p:nvSpPr>
          <p:cNvPr id="5" name="TextBox 4"/>
          <p:cNvSpPr txBox="1"/>
          <p:nvPr/>
        </p:nvSpPr>
        <p:spPr>
          <a:xfrm>
            <a:off x="804672" y="3419856"/>
            <a:ext cx="10515600" cy="502920"/>
          </a:xfrm>
          <a:prstGeom prst="rect">
            <a:avLst/>
          </a:prstGeom>
          <a:noFill/>
        </p:spPr>
        <p:txBody>
          <a:bodyPr wrap="none" tIns="0" bIns="0" lIns="0" rIns="0" anchor="t">
            <a:spAutoFit/>
          </a:bodyPr>
          <a:lstStyle/>
          <a:p>
            <a:pPr algn="l">
              <a:lnSpc>
                <a:spcPts val="2464"/>
              </a:lnSpc>
              <a:spcBef>
                <a:spcPts val="0"/>
              </a:spcBef>
              <a:spcAft>
                <a:spcPts val="0"/>
              </a:spcAft>
              <a:defRPr sz="2200" b="0">
                <a:solidFill>
                  <a:srgbClr val="17212D"/>
                </a:solidFill>
                <a:latin typeface="DejaVu Sans"/>
              </a:defRPr>
            </a:pPr>
            <a:r>
              <a:t>Fundamentals, market signals and machine learning</a:t>
            </a:r>
          </a:p>
        </p:txBody>
      </p:sp>
      <p:sp>
        <p:nvSpPr>
          <p:cNvPr id="6" name="TextBox 5"/>
          <p:cNvSpPr txBox="1"/>
          <p:nvPr/>
        </p:nvSpPr>
        <p:spPr>
          <a:xfrm>
            <a:off x="804672" y="4773168"/>
            <a:ext cx="10515600" cy="758952"/>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68737E"/>
                </a:solidFill>
                <a:latin typeface="DejaVu Sans"/>
              </a:defRPr>
            </a:pPr>
            <a:r>
              <a:t>2 Jan 2018 – 29 Apr 2026</a:t>
            </a:r>
            <a:br/>
            <a:r>
              <a:t>Daily inputs · Top 100 · 20-session targets</a:t>
            </a:r>
          </a:p>
        </p:txBody>
      </p:sp>
      <p:sp>
        <p:nvSpPr>
          <p:cNvPr id="7" name="TextBox 6"/>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Net performance at a glance</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All five methods and the matched pool; 2026 ends on 29 Apr 2026</a:t>
            </a:r>
          </a:p>
        </p:txBody>
      </p:sp>
      <p:sp>
        <p:nvSpPr>
          <p:cNvPr id="4" name="TextBox 3"/>
          <p:cNvSpPr txBox="1"/>
          <p:nvPr/>
        </p:nvSpPr>
        <p:spPr>
          <a:xfrm>
            <a:off x="914400" y="1773936"/>
            <a:ext cx="3063240" cy="274320"/>
          </a:xfrm>
          <a:prstGeom prst="rect">
            <a:avLst/>
          </a:prstGeom>
          <a:noFill/>
        </p:spPr>
        <p:txBody>
          <a:bodyPr wrap="none" tIns="0" bIns="0" lIns="0" rIns="0" anchor="t">
            <a:spAutoFit/>
          </a:bodyPr>
          <a:lstStyle/>
          <a:p>
            <a:pPr algn="l">
              <a:lnSpc>
                <a:spcPts val="1568"/>
              </a:lnSpc>
              <a:spcBef>
                <a:spcPts val="0"/>
              </a:spcBef>
              <a:spcAft>
                <a:spcPts val="0"/>
              </a:spcAft>
              <a:defRPr sz="1400" b="1">
                <a:solidFill>
                  <a:srgbClr val="68737E"/>
                </a:solidFill>
                <a:latin typeface="DejaVu Sans"/>
              </a:defRPr>
            </a:pPr>
            <a:r>
              <a:t>RIDGE · 2021–2025 NET</a:t>
            </a:r>
          </a:p>
        </p:txBody>
      </p:sp>
      <p:sp>
        <p:nvSpPr>
          <p:cNvPr id="5" name="TextBox 4"/>
          <p:cNvSpPr txBox="1"/>
          <p:nvPr/>
        </p:nvSpPr>
        <p:spPr>
          <a:xfrm>
            <a:off x="914400" y="2176272"/>
            <a:ext cx="3063240" cy="502920"/>
          </a:xfrm>
          <a:prstGeom prst="rect">
            <a:avLst/>
          </a:prstGeom>
          <a:noFill/>
        </p:spPr>
        <p:txBody>
          <a:bodyPr wrap="none" tIns="0" bIns="0" lIns="0" rIns="0" anchor="t">
            <a:spAutoFit/>
          </a:bodyPr>
          <a:lstStyle/>
          <a:p>
            <a:pPr algn="l">
              <a:lnSpc>
                <a:spcPts val="3584"/>
              </a:lnSpc>
              <a:spcBef>
                <a:spcPts val="0"/>
              </a:spcBef>
              <a:spcAft>
                <a:spcPts val="0"/>
              </a:spcAft>
              <a:defRPr sz="3200" b="1">
                <a:solidFill>
                  <a:srgbClr val="007C83"/>
                </a:solidFill>
                <a:latin typeface="DejaVu Sans"/>
              </a:defRPr>
            </a:pPr>
            <a:r>
              <a:t>195.66%</a:t>
            </a:r>
          </a:p>
        </p:txBody>
      </p:sp>
      <p:sp>
        <p:nvSpPr>
          <p:cNvPr id="6" name="TextBox 5"/>
          <p:cNvSpPr txBox="1"/>
          <p:nvPr/>
        </p:nvSpPr>
        <p:spPr>
          <a:xfrm>
            <a:off x="4572000" y="1773936"/>
            <a:ext cx="3063240" cy="274320"/>
          </a:xfrm>
          <a:prstGeom prst="rect">
            <a:avLst/>
          </a:prstGeom>
          <a:noFill/>
        </p:spPr>
        <p:txBody>
          <a:bodyPr wrap="none" tIns="0" bIns="0" lIns="0" rIns="0" anchor="t">
            <a:spAutoFit/>
          </a:bodyPr>
          <a:lstStyle/>
          <a:p>
            <a:pPr algn="l">
              <a:lnSpc>
                <a:spcPts val="1568"/>
              </a:lnSpc>
              <a:spcBef>
                <a:spcPts val="0"/>
              </a:spcBef>
              <a:spcAft>
                <a:spcPts val="0"/>
              </a:spcAft>
              <a:defRPr sz="1400" b="1">
                <a:solidFill>
                  <a:srgbClr val="68737E"/>
                </a:solidFill>
                <a:latin typeface="DejaVu Sans"/>
              </a:defRPr>
            </a:pPr>
            <a:r>
              <a:t>RIDGE · 2026 NET</a:t>
            </a:r>
          </a:p>
        </p:txBody>
      </p:sp>
      <p:sp>
        <p:nvSpPr>
          <p:cNvPr id="7" name="TextBox 6"/>
          <p:cNvSpPr txBox="1"/>
          <p:nvPr/>
        </p:nvSpPr>
        <p:spPr>
          <a:xfrm>
            <a:off x="4572000" y="2176272"/>
            <a:ext cx="3063240" cy="502920"/>
          </a:xfrm>
          <a:prstGeom prst="rect">
            <a:avLst/>
          </a:prstGeom>
          <a:noFill/>
        </p:spPr>
        <p:txBody>
          <a:bodyPr wrap="none" tIns="0" bIns="0" lIns="0" rIns="0" anchor="t">
            <a:spAutoFit/>
          </a:bodyPr>
          <a:lstStyle/>
          <a:p>
            <a:pPr algn="l">
              <a:lnSpc>
                <a:spcPts val="3584"/>
              </a:lnSpc>
              <a:spcBef>
                <a:spcPts val="0"/>
              </a:spcBef>
              <a:spcAft>
                <a:spcPts val="0"/>
              </a:spcAft>
              <a:defRPr sz="3200" b="1">
                <a:solidFill>
                  <a:srgbClr val="007C83"/>
                </a:solidFill>
                <a:latin typeface="DejaVu Sans"/>
              </a:defRPr>
            </a:pPr>
            <a:r>
              <a:t>8.80%</a:t>
            </a:r>
          </a:p>
        </p:txBody>
      </p:sp>
      <p:sp>
        <p:nvSpPr>
          <p:cNvPr id="8" name="TextBox 7"/>
          <p:cNvSpPr txBox="1"/>
          <p:nvPr/>
        </p:nvSpPr>
        <p:spPr>
          <a:xfrm>
            <a:off x="8229600" y="1773936"/>
            <a:ext cx="3063240" cy="274320"/>
          </a:xfrm>
          <a:prstGeom prst="rect">
            <a:avLst/>
          </a:prstGeom>
          <a:noFill/>
        </p:spPr>
        <p:txBody>
          <a:bodyPr wrap="none" tIns="0" bIns="0" lIns="0" rIns="0" anchor="t">
            <a:spAutoFit/>
          </a:bodyPr>
          <a:lstStyle/>
          <a:p>
            <a:pPr algn="l">
              <a:lnSpc>
                <a:spcPts val="1568"/>
              </a:lnSpc>
              <a:spcBef>
                <a:spcPts val="0"/>
              </a:spcBef>
              <a:spcAft>
                <a:spcPts val="0"/>
              </a:spcAft>
              <a:defRPr sz="1400" b="1">
                <a:solidFill>
                  <a:srgbClr val="68737E"/>
                </a:solidFill>
                <a:latin typeface="DejaVu Sans"/>
              </a:defRPr>
            </a:pPr>
            <a:r>
              <a:t>RIDGE · 2026 EXCESS</a:t>
            </a:r>
          </a:p>
        </p:txBody>
      </p:sp>
      <p:sp>
        <p:nvSpPr>
          <p:cNvPr id="9" name="TextBox 8"/>
          <p:cNvSpPr txBox="1"/>
          <p:nvPr/>
        </p:nvSpPr>
        <p:spPr>
          <a:xfrm>
            <a:off x="8229600" y="2176272"/>
            <a:ext cx="3063240" cy="502920"/>
          </a:xfrm>
          <a:prstGeom prst="rect">
            <a:avLst/>
          </a:prstGeom>
          <a:noFill/>
        </p:spPr>
        <p:txBody>
          <a:bodyPr wrap="none" tIns="0" bIns="0" lIns="0" rIns="0" anchor="t">
            <a:spAutoFit/>
          </a:bodyPr>
          <a:lstStyle/>
          <a:p>
            <a:pPr algn="l">
              <a:lnSpc>
                <a:spcPts val="3584"/>
              </a:lnSpc>
              <a:spcBef>
                <a:spcPts val="0"/>
              </a:spcBef>
              <a:spcAft>
                <a:spcPts val="0"/>
              </a:spcAft>
              <a:defRPr sz="3200" b="1">
                <a:solidFill>
                  <a:srgbClr val="007C83"/>
                </a:solidFill>
                <a:latin typeface="DejaVu Sans"/>
              </a:defRPr>
            </a:pPr>
            <a:r>
              <a:t>+0.56 pp</a:t>
            </a:r>
          </a:p>
        </p:txBody>
      </p:sp>
      <p:graphicFrame>
        <p:nvGraphicFramePr>
          <p:cNvPr id="10" name="Table 9"/>
          <p:cNvGraphicFramePr>
            <a:graphicFrameLocks noGrp="1"/>
          </p:cNvGraphicFramePr>
          <p:nvPr/>
        </p:nvGraphicFramePr>
        <p:xfrm>
          <a:off x="777240" y="2926080"/>
          <a:ext cx="10607040" cy="2880360"/>
        </p:xfrm>
        <a:graphic>
          <a:graphicData uri="http://schemas.openxmlformats.org/drawingml/2006/table">
            <a:tbl>
              <a:tblPr>
                <a:tableStyleId>{5C22544A-7EE6-4342-B048-85BDC9FD1C3A}</a:tableStyleId>
              </a:tblPr>
              <a:tblGrid>
                <a:gridCol w="2743200"/>
                <a:gridCol w="2926080"/>
                <a:gridCol w="2377440"/>
                <a:gridCol w="2560320"/>
              </a:tblGrid>
              <a:tr h="411480">
                <a:tc>
                  <a:txBody>
                    <a:bodyPr wrap="none"/>
                    <a:lstStyle/>
                    <a:p>
                      <a:pPr algn="l">
                        <a:lnSpc>
                          <a:spcPts val="1980"/>
                        </a:lnSpc>
                        <a:spcBef>
                          <a:spcPts val="0"/>
                        </a:spcBef>
                        <a:spcAft>
                          <a:spcPts val="0"/>
                        </a:spcAft>
                        <a:defRPr sz="1800" b="1">
                          <a:solidFill>
                            <a:srgbClr val="17212D"/>
                          </a:solidFill>
                          <a:latin typeface="DejaVu Sans"/>
                        </a:defRPr>
                      </a:pPr>
                      <a:r>
                        <a:t>Method</a:t>
                      </a:r>
                    </a:p>
                  </a:txBody>
                  <a:tcPr marL="82296" marR="82296" marT="91440" marB="0" anchor="t">
                    <a:lnL w="6350">
                      <a:noFill/>
                    </a:lnL>
                    <a:lnR w="6350">
                      <a:noFill/>
                    </a:lnR>
                    <a:lnT w="6350">
                      <a:noFill/>
                    </a:lnT>
                    <a:lnB w="6350">
                      <a:solidFill>
                        <a:srgbClr val="D9DEE3"/>
                      </a:solidFill>
                    </a:lnB>
                    <a:solidFill>
                      <a:srgbClr val="F2F4F5"/>
                    </a:solidFill>
                  </a:tcPr>
                </a:tc>
                <a:tc>
                  <a:txBody>
                    <a:bodyPr wrap="none"/>
                    <a:lstStyle/>
                    <a:p>
                      <a:pPr algn="r">
                        <a:lnSpc>
                          <a:spcPts val="1980"/>
                        </a:lnSpc>
                        <a:spcBef>
                          <a:spcPts val="0"/>
                        </a:spcBef>
                        <a:spcAft>
                          <a:spcPts val="0"/>
                        </a:spcAft>
                        <a:defRPr sz="1800" b="1">
                          <a:solidFill>
                            <a:srgbClr val="17212D"/>
                          </a:solidFill>
                          <a:latin typeface="DejaVu Sans"/>
                        </a:defRPr>
                      </a:pPr>
                      <a:r>
                        <a:t>2021–2025 net</a:t>
                      </a:r>
                    </a:p>
                  </a:txBody>
                  <a:tcPr marL="82296" marR="82296" marT="91440" marB="0" anchor="t">
                    <a:lnL w="6350">
                      <a:noFill/>
                    </a:lnL>
                    <a:lnR w="6350">
                      <a:noFill/>
                    </a:lnR>
                    <a:lnT w="6350">
                      <a:noFill/>
                    </a:lnT>
                    <a:lnB w="6350">
                      <a:solidFill>
                        <a:srgbClr val="D9DEE3"/>
                      </a:solidFill>
                    </a:lnB>
                    <a:solidFill>
                      <a:srgbClr val="F2F4F5"/>
                    </a:solidFill>
                  </a:tcPr>
                </a:tc>
                <a:tc>
                  <a:txBody>
                    <a:bodyPr wrap="none"/>
                    <a:lstStyle/>
                    <a:p>
                      <a:pPr algn="r">
                        <a:lnSpc>
                          <a:spcPts val="1980"/>
                        </a:lnSpc>
                        <a:spcBef>
                          <a:spcPts val="0"/>
                        </a:spcBef>
                        <a:spcAft>
                          <a:spcPts val="0"/>
                        </a:spcAft>
                        <a:defRPr sz="1800" b="1">
                          <a:solidFill>
                            <a:srgbClr val="17212D"/>
                          </a:solidFill>
                          <a:latin typeface="DejaVu Sans"/>
                        </a:defRPr>
                      </a:pPr>
                      <a:r>
                        <a:t>2026 net</a:t>
                      </a:r>
                    </a:p>
                  </a:txBody>
                  <a:tcPr marL="82296" marR="82296" marT="91440" marB="0" anchor="t">
                    <a:lnL w="6350">
                      <a:noFill/>
                    </a:lnL>
                    <a:lnR w="6350">
                      <a:noFill/>
                    </a:lnR>
                    <a:lnT w="6350">
                      <a:noFill/>
                    </a:lnT>
                    <a:lnB w="6350">
                      <a:solidFill>
                        <a:srgbClr val="D9DEE3"/>
                      </a:solidFill>
                    </a:lnB>
                    <a:solidFill>
                      <a:srgbClr val="F2F4F5"/>
                    </a:solidFill>
                  </a:tcPr>
                </a:tc>
                <a:tc>
                  <a:txBody>
                    <a:bodyPr wrap="none"/>
                    <a:lstStyle/>
                    <a:p>
                      <a:pPr algn="r">
                        <a:lnSpc>
                          <a:spcPts val="1980"/>
                        </a:lnSpc>
                        <a:spcBef>
                          <a:spcPts val="0"/>
                        </a:spcBef>
                        <a:spcAft>
                          <a:spcPts val="0"/>
                        </a:spcAft>
                        <a:defRPr sz="1800" b="1">
                          <a:solidFill>
                            <a:srgbClr val="17212D"/>
                          </a:solidFill>
                          <a:latin typeface="DejaVu Sans"/>
                        </a:defRPr>
                      </a:pPr>
                      <a:r>
                        <a:t>2026 excess (pp)</a:t>
                      </a:r>
                    </a:p>
                  </a:txBody>
                  <a:tcPr marL="82296" marR="82296" marT="91440" marB="0" anchor="t">
                    <a:lnL w="6350">
                      <a:noFill/>
                    </a:lnL>
                    <a:lnR w="6350">
                      <a:noFill/>
                    </a:lnR>
                    <a:lnT w="6350">
                      <a:noFill/>
                    </a:lnT>
                    <a:lnB w="6350">
                      <a:solidFill>
                        <a:srgbClr val="D9DEE3"/>
                      </a:solidFill>
                    </a:lnB>
                    <a:solidFill>
                      <a:srgbClr val="F2F4F5"/>
                    </a:solidFill>
                  </a:tcPr>
                </a:tc>
              </a:tr>
              <a:tr h="411480">
                <a:tc>
                  <a:txBody>
                    <a:bodyPr wrap="none"/>
                    <a:lstStyle/>
                    <a:p>
                      <a:pPr algn="l">
                        <a:lnSpc>
                          <a:spcPts val="1980"/>
                        </a:lnSpc>
                        <a:spcBef>
                          <a:spcPts val="0"/>
                        </a:spcBef>
                        <a:spcAft>
                          <a:spcPts val="0"/>
                        </a:spcAft>
                        <a:defRPr sz="1800" b="0">
                          <a:solidFill>
                            <a:srgbClr val="17212D"/>
                          </a:solidFill>
                          <a:latin typeface="DejaVu Sans"/>
                        </a:defRPr>
                      </a:pPr>
                      <a:r>
                        <a:t>Fundamental</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139.90%</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3.53%</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-4.25</a:t>
                      </a:r>
                    </a:p>
                  </a:txBody>
                  <a:tcPr marL="82296" marR="82296" marT="91440" marB="0" anchor="t">
                    <a:lnL w="6350">
                      <a:noFill/>
                    </a:lnL>
                    <a:lnR w="6350">
                      <a:noFill/>
                    </a:lnR>
                    <a:lnT w="6350">
                      <a:noFill/>
                    </a:lnT>
                    <a:lnB w="6350">
                      <a:solidFill>
                        <a:srgbClr val="D9DEE3"/>
                      </a:solidFill>
                    </a:lnB>
                    <a:solidFill>
                      <a:srgbClr val="FFFFFF"/>
                    </a:solidFill>
                  </a:tcPr>
                </a:tc>
              </a:tr>
              <a:tr h="411480">
                <a:tc>
                  <a:txBody>
                    <a:bodyPr wrap="none"/>
                    <a:lstStyle/>
                    <a:p>
                      <a:pPr algn="l">
                        <a:lnSpc>
                          <a:spcPts val="1980"/>
                        </a:lnSpc>
                        <a:spcBef>
                          <a:spcPts val="0"/>
                        </a:spcBef>
                        <a:spcAft>
                          <a:spcPts val="0"/>
                        </a:spcAft>
                        <a:defRPr sz="1800" b="0">
                          <a:solidFill>
                            <a:srgbClr val="17212D"/>
                          </a:solidFill>
                          <a:latin typeface="DejaVu Sans"/>
                        </a:defRPr>
                      </a:pPr>
                      <a:r>
                        <a:t>Combined</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145.46%</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9.73%</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+1.33</a:t>
                      </a:r>
                    </a:p>
                  </a:txBody>
                  <a:tcPr marL="82296" marR="82296" marT="91440" marB="0" anchor="t">
                    <a:lnL w="6350">
                      <a:noFill/>
                    </a:lnL>
                    <a:lnR w="6350">
                      <a:noFill/>
                    </a:lnR>
                    <a:lnT w="6350">
                      <a:noFill/>
                    </a:lnT>
                    <a:lnB w="6350">
                      <a:solidFill>
                        <a:srgbClr val="D9DEE3"/>
                      </a:solidFill>
                    </a:lnB>
                    <a:solidFill>
                      <a:srgbClr val="FFFFFF"/>
                    </a:solidFill>
                  </a:tcPr>
                </a:tc>
              </a:tr>
              <a:tr h="411480">
                <a:tc>
                  <a:txBody>
                    <a:bodyPr wrap="none"/>
                    <a:lstStyle/>
                    <a:p>
                      <a:pPr algn="l">
                        <a:lnSpc>
                          <a:spcPts val="1980"/>
                        </a:lnSpc>
                        <a:spcBef>
                          <a:spcPts val="0"/>
                        </a:spcBef>
                        <a:spcAft>
                          <a:spcPts val="0"/>
                        </a:spcAft>
                        <a:defRPr sz="1800" b="1">
                          <a:solidFill>
                            <a:srgbClr val="007C83"/>
                          </a:solidFill>
                          <a:latin typeface="DejaVu Sans"/>
                        </a:defRPr>
                      </a:pPr>
                      <a:r>
                        <a:t>Ridge</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1">
                          <a:solidFill>
                            <a:srgbClr val="007C83"/>
                          </a:solidFill>
                          <a:latin typeface="DejaVu Sans"/>
                        </a:defRPr>
                      </a:pPr>
                      <a:r>
                        <a:t>195.66%</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1">
                          <a:solidFill>
                            <a:srgbClr val="007C83"/>
                          </a:solidFill>
                          <a:latin typeface="DejaVu Sans"/>
                        </a:defRPr>
                      </a:pPr>
                      <a:r>
                        <a:t>8.80%</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1">
                          <a:solidFill>
                            <a:srgbClr val="007C83"/>
                          </a:solidFill>
                          <a:latin typeface="DejaVu Sans"/>
                        </a:defRPr>
                      </a:pPr>
                      <a:r>
                        <a:t>+0.56</a:t>
                      </a:r>
                    </a:p>
                  </a:txBody>
                  <a:tcPr marL="82296" marR="82296" marT="91440" marB="0" anchor="t">
                    <a:lnL w="6350">
                      <a:noFill/>
                    </a:lnL>
                    <a:lnR w="6350">
                      <a:noFill/>
                    </a:lnR>
                    <a:lnT w="6350">
                      <a:noFill/>
                    </a:lnT>
                    <a:lnB w="6350">
                      <a:solidFill>
                        <a:srgbClr val="D9DEE3"/>
                      </a:solidFill>
                    </a:lnB>
                    <a:solidFill>
                      <a:srgbClr val="FFFFFF"/>
                    </a:solidFill>
                  </a:tcPr>
                </a:tc>
              </a:tr>
              <a:tr h="411480">
                <a:tc>
                  <a:txBody>
                    <a:bodyPr wrap="none"/>
                    <a:lstStyle/>
                    <a:p>
                      <a:pPr algn="l">
                        <a:lnSpc>
                          <a:spcPts val="1980"/>
                        </a:lnSpc>
                        <a:spcBef>
                          <a:spcPts val="0"/>
                        </a:spcBef>
                        <a:spcAft>
                          <a:spcPts val="0"/>
                        </a:spcAft>
                        <a:defRPr sz="1800" b="0">
                          <a:solidFill>
                            <a:srgbClr val="17212D"/>
                          </a:solidFill>
                          <a:latin typeface="DejaVu Sans"/>
                        </a:defRPr>
                      </a:pPr>
                      <a:r>
                        <a:t>Lasso</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96.10%</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7.52%</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-0.65</a:t>
                      </a:r>
                    </a:p>
                  </a:txBody>
                  <a:tcPr marL="82296" marR="82296" marT="91440" marB="0" anchor="t">
                    <a:lnL w="6350">
                      <a:noFill/>
                    </a:lnL>
                    <a:lnR w="6350">
                      <a:noFill/>
                    </a:lnR>
                    <a:lnT w="6350">
                      <a:noFill/>
                    </a:lnT>
                    <a:lnB w="6350">
                      <a:solidFill>
                        <a:srgbClr val="D9DEE3"/>
                      </a:solidFill>
                    </a:lnB>
                    <a:solidFill>
                      <a:srgbClr val="FFFFFF"/>
                    </a:solidFill>
                  </a:tcPr>
                </a:tc>
              </a:tr>
              <a:tr h="411480">
                <a:tc>
                  <a:txBody>
                    <a:bodyPr wrap="none"/>
                    <a:lstStyle/>
                    <a:p>
                      <a:pPr algn="l">
                        <a:lnSpc>
                          <a:spcPts val="1980"/>
                        </a:lnSpc>
                        <a:spcBef>
                          <a:spcPts val="0"/>
                        </a:spcBef>
                        <a:spcAft>
                          <a:spcPts val="0"/>
                        </a:spcAft>
                        <a:defRPr sz="1800" b="0">
                          <a:solidFill>
                            <a:srgbClr val="17212D"/>
                          </a:solidFill>
                          <a:latin typeface="DejaVu Sans"/>
                        </a:defRPr>
                      </a:pPr>
                      <a:r>
                        <a:t>LightGBM</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178.42%</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5.56%</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-2.40</a:t>
                      </a:r>
                    </a:p>
                  </a:txBody>
                  <a:tcPr marL="82296" marR="82296" marT="91440" marB="0" anchor="t">
                    <a:lnL w="6350">
                      <a:noFill/>
                    </a:lnL>
                    <a:lnR w="6350">
                      <a:noFill/>
                    </a:lnR>
                    <a:lnT w="6350">
                      <a:noFill/>
                    </a:lnT>
                    <a:lnB w="6350">
                      <a:solidFill>
                        <a:srgbClr val="D9DEE3"/>
                      </a:solidFill>
                    </a:lnB>
                    <a:solidFill>
                      <a:srgbClr val="FFFFFF"/>
                    </a:solidFill>
                  </a:tcPr>
                </a:tc>
              </a:tr>
              <a:tr h="411480">
                <a:tc>
                  <a:txBody>
                    <a:bodyPr wrap="none"/>
                    <a:lstStyle/>
                    <a:p>
                      <a:pPr algn="l">
                        <a:lnSpc>
                          <a:spcPts val="1980"/>
                        </a:lnSpc>
                        <a:spcBef>
                          <a:spcPts val="0"/>
                        </a:spcBef>
                        <a:spcAft>
                          <a:spcPts val="0"/>
                        </a:spcAft>
                        <a:defRPr sz="1800" b="0">
                          <a:solidFill>
                            <a:srgbClr val="17212D"/>
                          </a:solidFill>
                          <a:latin typeface="DejaVu Sans"/>
                        </a:defRPr>
                      </a:pPr>
                      <a:r>
                        <a:t>Benchmark</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76.60%</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8.18%</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+0.00</a:t>
                      </a:r>
                    </a:p>
                  </a:txBody>
                  <a:tcPr marL="82296" marR="82296" marT="91440" marB="0" anchor="t">
                    <a:lnL w="6350">
                      <a:noFill/>
                    </a:lnL>
                    <a:lnR w="6350">
                      <a:noFill/>
                    </a:lnR>
                    <a:lnT w="6350">
                      <a:noFill/>
                    </a:lnT>
                    <a:lnB w="6350">
                      <a:solidFill>
                        <a:srgbClr val="D9DEE3"/>
                      </a:solidFill>
                    </a:lnB>
                    <a:solidFill>
                      <a:srgbClr val="FFFFFF"/>
                    </a:solidFill>
                  </a:tcPr>
                </a:tc>
              </a:tr>
            </a:tbl>
          </a:graphicData>
        </a:graphic>
      </p:graphicFrame>
      <p:sp>
        <p:nvSpPr>
          <p:cNvPr id="11" name="TextBox 10"/>
          <p:cNvSpPr txBox="1"/>
          <p:nvPr/>
        </p:nvSpPr>
        <p:spPr>
          <a:xfrm>
            <a:off x="896112" y="5989320"/>
            <a:ext cx="10378440" cy="41148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Lasso trails Ridge in both evaluation intervals; 2021 selects cash.</a:t>
            </a:r>
          </a:p>
        </p:txBody>
      </p:sp>
      <p:sp>
        <p:nvSpPr>
          <p:cNvPr id="12" name="TextBox 11"/>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Why combine these signals?</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Fourteen candidate inputs; twelve inputs used across the fixed annual models</a:t>
            </a:r>
          </a:p>
        </p:txBody>
      </p:sp>
      <p:sp>
        <p:nvSpPr>
          <p:cNvPr id="4" name="TextBox 3"/>
          <p:cNvSpPr txBox="1"/>
          <p:nvPr/>
        </p:nvSpPr>
        <p:spPr>
          <a:xfrm>
            <a:off x="914400" y="1792224"/>
            <a:ext cx="4800600" cy="365760"/>
          </a:xfrm>
          <a:prstGeom prst="rect">
            <a:avLst/>
          </a:prstGeom>
          <a:noFill/>
        </p:spPr>
        <p:txBody>
          <a:bodyPr wrap="none" tIns="0" bIns="0" lIns="0" rIns="0" anchor="t">
            <a:spAutoFit/>
          </a:bodyPr>
          <a:lstStyle/>
          <a:p>
            <a:pPr algn="l">
              <a:lnSpc>
                <a:spcPts val="2576"/>
              </a:lnSpc>
              <a:spcBef>
                <a:spcPts val="0"/>
              </a:spcBef>
              <a:spcAft>
                <a:spcPts val="0"/>
              </a:spcAft>
              <a:defRPr sz="2300" b="1">
                <a:solidFill>
                  <a:srgbClr val="17212D"/>
                </a:solidFill>
                <a:latin typeface="DejaVu Sans"/>
              </a:defRPr>
            </a:pPr>
            <a:r>
              <a:t>Fundamentals</a:t>
            </a:r>
          </a:p>
        </p:txBody>
      </p:sp>
      <p:sp>
        <p:nvSpPr>
          <p:cNvPr id="5" name="TextBox 4"/>
          <p:cNvSpPr txBox="1"/>
          <p:nvPr/>
        </p:nvSpPr>
        <p:spPr>
          <a:xfrm>
            <a:off x="914400" y="2450592"/>
            <a:ext cx="4800600" cy="2240280"/>
          </a:xfrm>
          <a:prstGeom prst="rect">
            <a:avLst/>
          </a:prstGeom>
          <a:noFill/>
        </p:spPr>
        <p:txBody>
          <a:bodyPr wrap="none" tIns="0" bIns="0" lIns="0" rIns="0" anchor="t">
            <a:spAutoFit/>
          </a:bodyPr>
          <a:lstStyle/>
          <a:p>
            <a:pPr algn="l">
              <a:lnSpc>
                <a:spcPts val="2352"/>
              </a:lnSpc>
              <a:spcBef>
                <a:spcPts val="0"/>
              </a:spcBef>
              <a:spcAft>
                <a:spcPts val="0"/>
              </a:spcAft>
              <a:defRPr sz="2100" b="0">
                <a:solidFill>
                  <a:srgbClr val="17212D"/>
                </a:solidFill>
                <a:latin typeface="DejaVu Sans"/>
              </a:defRPr>
            </a:pPr>
            <a:r>
              <a:t>Profitability and cash generation</a:t>
            </a:r>
            <a:br/>
            <a:br/>
            <a:r>
              <a:t>Signed book and earnings yields</a:t>
            </a:r>
            <a:br/>
            <a:br/>
            <a:r>
              <a:t>Growth and leverage dynamics</a:t>
            </a:r>
          </a:p>
        </p:txBody>
      </p:sp>
      <p:sp>
        <p:nvSpPr>
          <p:cNvPr id="6" name="TextBox 5"/>
          <p:cNvSpPr txBox="1"/>
          <p:nvPr/>
        </p:nvSpPr>
        <p:spPr>
          <a:xfrm>
            <a:off x="914400" y="5065776"/>
            <a:ext cx="4800600" cy="502920"/>
          </a:xfrm>
          <a:prstGeom prst="rect">
            <a:avLst/>
          </a:prstGeom>
          <a:noFill/>
        </p:spPr>
        <p:txBody>
          <a:bodyPr wrap="none" tIns="0" bIns="0" lIns="0" rIns="0" anchor="t">
            <a:spAutoFit/>
          </a:bodyPr>
          <a:lstStyle/>
          <a:p>
            <a:pPr algn="l">
              <a:lnSpc>
                <a:spcPts val="1568"/>
              </a:lnSpc>
              <a:spcBef>
                <a:spcPts val="0"/>
              </a:spcBef>
              <a:spcAft>
                <a:spcPts val="0"/>
              </a:spcAft>
              <a:defRPr sz="1400" b="0">
                <a:solidFill>
                  <a:srgbClr val="68737E"/>
                </a:solidFill>
                <a:latin typeface="DejaVu Sans"/>
              </a:defRPr>
            </a:pPr>
            <a:r>
              <a:t>F1 · F2 · F3 · F5 · F6 · F7 · F8 · F9 · F10</a:t>
            </a:r>
          </a:p>
        </p:txBody>
      </p:sp>
      <p:sp>
        <p:nvSpPr>
          <p:cNvPr id="7" name="TextBox 6"/>
          <p:cNvSpPr txBox="1"/>
          <p:nvPr/>
        </p:nvSpPr>
        <p:spPr>
          <a:xfrm>
            <a:off x="6446520" y="1792224"/>
            <a:ext cx="4800600" cy="365760"/>
          </a:xfrm>
          <a:prstGeom prst="rect">
            <a:avLst/>
          </a:prstGeom>
          <a:noFill/>
        </p:spPr>
        <p:txBody>
          <a:bodyPr wrap="none" tIns="0" bIns="0" lIns="0" rIns="0" anchor="t">
            <a:spAutoFit/>
          </a:bodyPr>
          <a:lstStyle/>
          <a:p>
            <a:pPr algn="l">
              <a:lnSpc>
                <a:spcPts val="2576"/>
              </a:lnSpc>
              <a:spcBef>
                <a:spcPts val="0"/>
              </a:spcBef>
              <a:spcAft>
                <a:spcPts val="0"/>
              </a:spcAft>
              <a:defRPr sz="2300" b="1">
                <a:solidFill>
                  <a:srgbClr val="17212D"/>
                </a:solidFill>
                <a:latin typeface="DejaVu Sans"/>
              </a:defRPr>
            </a:pPr>
            <a:r>
              <a:t>Market behaviour</a:t>
            </a:r>
          </a:p>
        </p:txBody>
      </p:sp>
      <p:sp>
        <p:nvSpPr>
          <p:cNvPr id="8" name="TextBox 7"/>
          <p:cNvSpPr txBox="1"/>
          <p:nvPr/>
        </p:nvSpPr>
        <p:spPr>
          <a:xfrm>
            <a:off x="6446520" y="2450592"/>
            <a:ext cx="4800600" cy="2240280"/>
          </a:xfrm>
          <a:prstGeom prst="rect">
            <a:avLst/>
          </a:prstGeom>
          <a:noFill/>
        </p:spPr>
        <p:txBody>
          <a:bodyPr wrap="none" tIns="0" bIns="0" lIns="0" rIns="0" anchor="t">
            <a:spAutoFit/>
          </a:bodyPr>
          <a:lstStyle/>
          <a:p>
            <a:pPr algn="l">
              <a:lnSpc>
                <a:spcPts val="2352"/>
              </a:lnSpc>
              <a:spcBef>
                <a:spcPts val="0"/>
              </a:spcBef>
              <a:spcAft>
                <a:spcPts val="0"/>
              </a:spcAft>
              <a:defRPr sz="2100" b="0">
                <a:solidFill>
                  <a:srgbClr val="17212D"/>
                </a:solidFill>
                <a:latin typeface="DejaVu Sans"/>
              </a:defRPr>
            </a:pPr>
            <a:r>
              <a:t>20- and 60-session momentum</a:t>
            </a:r>
            <a:br/>
            <a:br/>
            <a:r>
              <a:t>126-to-20-session momentum</a:t>
            </a:r>
            <a:br/>
            <a:br/>
            <a:r>
              <a:t>Return volatility and turnover</a:t>
            </a:r>
          </a:p>
        </p:txBody>
      </p:sp>
      <p:sp>
        <p:nvSpPr>
          <p:cNvPr id="9" name="TextBox 8"/>
          <p:cNvSpPr txBox="1"/>
          <p:nvPr/>
        </p:nvSpPr>
        <p:spPr>
          <a:xfrm>
            <a:off x="6446520" y="5065776"/>
            <a:ext cx="4800600" cy="365760"/>
          </a:xfrm>
          <a:prstGeom prst="rect">
            <a:avLst/>
          </a:prstGeom>
          <a:noFill/>
        </p:spPr>
        <p:txBody>
          <a:bodyPr wrap="none" tIns="0" bIns="0" lIns="0" rIns="0" anchor="t">
            <a:spAutoFit/>
          </a:bodyPr>
          <a:lstStyle/>
          <a:p>
            <a:pPr algn="l">
              <a:lnSpc>
                <a:spcPts val="1568"/>
              </a:lnSpc>
              <a:spcBef>
                <a:spcPts val="0"/>
              </a:spcBef>
              <a:spcAft>
                <a:spcPts val="0"/>
              </a:spcAft>
              <a:defRPr sz="1400" b="0">
                <a:solidFill>
                  <a:srgbClr val="68737E"/>
                </a:solidFill>
                <a:latin typeface="DejaVu Sans"/>
              </a:defRPr>
            </a:pPr>
            <a:r>
              <a:t>T1 · T2 · T3 · T5 · T6</a:t>
            </a:r>
          </a:p>
        </p:txBody>
      </p:sp>
      <p:sp>
        <p:nvSpPr>
          <p:cNvPr id="10" name="TextBox 9"/>
          <p:cNvSpPr txBox="1"/>
          <p:nvPr/>
        </p:nvSpPr>
        <p:spPr>
          <a:xfrm>
            <a:off x="896112" y="5925312"/>
            <a:ext cx="10378440" cy="45720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Distinct mechanisms motivate the inputs; their usefulness is empirical.</a:t>
            </a:r>
          </a:p>
        </p:txBody>
      </p:sp>
      <p:sp>
        <p:nvSpPr>
          <p:cNvPr id="11" name="TextBox 10"/>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Data and the common stock pool</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2,018 sessions · 6,000 historical slots · First signal: 11 Jul 2018</a:t>
            </a:r>
          </a:p>
        </p:txBody>
      </p:sp>
      <p:pic>
        <p:nvPicPr>
          <p:cNvPr id="4" name="Picture 3" descr="coverage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The same fourteen-input finite pool is used by every portfolio.</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Fixed models, annual refits</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Predict 20-session returns; only labels with earlier t+21 exits enter training</a:t>
            </a:r>
          </a:p>
        </p:txBody>
      </p:sp>
      <p:sp>
        <p:nvSpPr>
          <p:cNvPr id="4" name="TextBox 3"/>
          <p:cNvSpPr txBox="1"/>
          <p:nvPr/>
        </p:nvSpPr>
        <p:spPr>
          <a:xfrm>
            <a:off x="868680" y="1810512"/>
            <a:ext cx="1508760" cy="658368"/>
          </a:xfrm>
          <a:prstGeom prst="rect">
            <a:avLst/>
          </a:prstGeom>
          <a:noFill/>
        </p:spPr>
        <p:txBody>
          <a:bodyPr wrap="none" tIns="0" bIns="0" lIns="0" rIns="0" anchor="t">
            <a:spAutoFit/>
          </a:bodyPr>
          <a:lstStyle/>
          <a:p>
            <a:pPr algn="ctr">
              <a:lnSpc>
                <a:spcPts val="2240"/>
              </a:lnSpc>
              <a:spcBef>
                <a:spcPts val="0"/>
              </a:spcBef>
              <a:spcAft>
                <a:spcPts val="0"/>
              </a:spcAft>
              <a:defRPr sz="2000" b="1">
                <a:solidFill>
                  <a:srgbClr val="17212D"/>
                </a:solidFill>
                <a:latin typeface="DejaVu Sans"/>
              </a:defRPr>
            </a:pPr>
            <a:r>
              <a:t>Input</a:t>
            </a:r>
            <a:br/>
            <a:r>
              <a:t>ranks</a:t>
            </a:r>
          </a:p>
        </p:txBody>
      </p:sp>
      <p:sp>
        <p:nvSpPr>
          <p:cNvPr id="5" name="TextBox 4"/>
          <p:cNvSpPr txBox="1"/>
          <p:nvPr/>
        </p:nvSpPr>
        <p:spPr>
          <a:xfrm>
            <a:off x="2615184" y="1938528"/>
            <a:ext cx="274320" cy="36576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68737E"/>
                </a:solidFill>
                <a:latin typeface="DejaVu Sans"/>
              </a:defRPr>
            </a:pPr>
            <a:r>
              <a:t>→</a:t>
            </a:r>
          </a:p>
        </p:txBody>
      </p:sp>
      <p:sp>
        <p:nvSpPr>
          <p:cNvPr id="6" name="TextBox 5"/>
          <p:cNvSpPr txBox="1"/>
          <p:nvPr/>
        </p:nvSpPr>
        <p:spPr>
          <a:xfrm>
            <a:off x="3108960" y="1810512"/>
            <a:ext cx="1508760" cy="658368"/>
          </a:xfrm>
          <a:prstGeom prst="rect">
            <a:avLst/>
          </a:prstGeom>
          <a:noFill/>
        </p:spPr>
        <p:txBody>
          <a:bodyPr wrap="none" tIns="0" bIns="0" lIns="0" rIns="0" anchor="t">
            <a:spAutoFit/>
          </a:bodyPr>
          <a:lstStyle/>
          <a:p>
            <a:pPr algn="ctr">
              <a:lnSpc>
                <a:spcPts val="2240"/>
              </a:lnSpc>
              <a:spcBef>
                <a:spcPts val="0"/>
              </a:spcBef>
              <a:spcAft>
                <a:spcPts val="0"/>
              </a:spcAft>
              <a:defRPr sz="2000" b="1">
                <a:solidFill>
                  <a:srgbClr val="17212D"/>
                </a:solidFill>
                <a:latin typeface="DejaVu Sans"/>
              </a:defRPr>
            </a:pPr>
            <a:r>
              <a:t>Annual</a:t>
            </a:r>
            <a:br/>
            <a:r>
              <a:t>model</a:t>
            </a:r>
          </a:p>
        </p:txBody>
      </p:sp>
      <p:sp>
        <p:nvSpPr>
          <p:cNvPr id="7" name="TextBox 6"/>
          <p:cNvSpPr txBox="1"/>
          <p:nvPr/>
        </p:nvSpPr>
        <p:spPr>
          <a:xfrm>
            <a:off x="4855464" y="1938528"/>
            <a:ext cx="274320" cy="36576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68737E"/>
                </a:solidFill>
                <a:latin typeface="DejaVu Sans"/>
              </a:defRPr>
            </a:pPr>
            <a:r>
              <a:t>→</a:t>
            </a:r>
          </a:p>
        </p:txBody>
      </p:sp>
      <p:sp>
        <p:nvSpPr>
          <p:cNvPr id="8" name="TextBox 7"/>
          <p:cNvSpPr txBox="1"/>
          <p:nvPr/>
        </p:nvSpPr>
        <p:spPr>
          <a:xfrm>
            <a:off x="5349240" y="1810512"/>
            <a:ext cx="1508760" cy="658368"/>
          </a:xfrm>
          <a:prstGeom prst="rect">
            <a:avLst/>
          </a:prstGeom>
          <a:noFill/>
        </p:spPr>
        <p:txBody>
          <a:bodyPr wrap="none" tIns="0" bIns="0" lIns="0" rIns="0" anchor="t">
            <a:spAutoFit/>
          </a:bodyPr>
          <a:lstStyle/>
          <a:p>
            <a:pPr algn="ctr">
              <a:lnSpc>
                <a:spcPts val="2240"/>
              </a:lnSpc>
              <a:spcBef>
                <a:spcPts val="0"/>
              </a:spcBef>
              <a:spcAft>
                <a:spcPts val="0"/>
              </a:spcAft>
              <a:defRPr sz="2000" b="1">
                <a:solidFill>
                  <a:srgbClr val="17212D"/>
                </a:solidFill>
                <a:latin typeface="DejaVu Sans"/>
              </a:defRPr>
            </a:pPr>
            <a:r>
              <a:t>Style</a:t>
            </a:r>
            <a:br/>
            <a:r>
              <a:t>residuals</a:t>
            </a:r>
          </a:p>
        </p:txBody>
      </p:sp>
      <p:sp>
        <p:nvSpPr>
          <p:cNvPr id="9" name="TextBox 8"/>
          <p:cNvSpPr txBox="1"/>
          <p:nvPr/>
        </p:nvSpPr>
        <p:spPr>
          <a:xfrm>
            <a:off x="7095744" y="1938528"/>
            <a:ext cx="274320" cy="36576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68737E"/>
                </a:solidFill>
                <a:latin typeface="DejaVu Sans"/>
              </a:defRPr>
            </a:pPr>
            <a:r>
              <a:t>→</a:t>
            </a:r>
          </a:p>
        </p:txBody>
      </p:sp>
      <p:sp>
        <p:nvSpPr>
          <p:cNvPr id="10" name="TextBox 9"/>
          <p:cNvSpPr txBox="1"/>
          <p:nvPr/>
        </p:nvSpPr>
        <p:spPr>
          <a:xfrm>
            <a:off x="7589520" y="1810512"/>
            <a:ext cx="1508760" cy="658368"/>
          </a:xfrm>
          <a:prstGeom prst="rect">
            <a:avLst/>
          </a:prstGeom>
          <a:noFill/>
        </p:spPr>
        <p:txBody>
          <a:bodyPr wrap="none" tIns="0" bIns="0" lIns="0" rIns="0" anchor="t">
            <a:spAutoFit/>
          </a:bodyPr>
          <a:lstStyle/>
          <a:p>
            <a:pPr algn="ctr">
              <a:lnSpc>
                <a:spcPts val="2240"/>
              </a:lnSpc>
              <a:spcBef>
                <a:spcPts val="0"/>
              </a:spcBef>
              <a:spcAft>
                <a:spcPts val="0"/>
              </a:spcAft>
              <a:defRPr sz="2000" b="1">
                <a:solidFill>
                  <a:srgbClr val="17212D"/>
                </a:solidFill>
                <a:latin typeface="DejaVu Sans"/>
              </a:defRPr>
            </a:pPr>
            <a:r>
              <a:t>Causal</a:t>
            </a:r>
            <a:br/>
            <a:r>
              <a:t>EMA</a:t>
            </a:r>
          </a:p>
        </p:txBody>
      </p:sp>
      <p:sp>
        <p:nvSpPr>
          <p:cNvPr id="11" name="TextBox 10"/>
          <p:cNvSpPr txBox="1"/>
          <p:nvPr/>
        </p:nvSpPr>
        <p:spPr>
          <a:xfrm>
            <a:off x="9336024" y="1938528"/>
            <a:ext cx="274320" cy="36576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68737E"/>
                </a:solidFill>
                <a:latin typeface="DejaVu Sans"/>
              </a:defRPr>
            </a:pPr>
            <a:r>
              <a:t>→</a:t>
            </a:r>
          </a:p>
        </p:txBody>
      </p:sp>
      <p:sp>
        <p:nvSpPr>
          <p:cNvPr id="12" name="TextBox 11"/>
          <p:cNvSpPr txBox="1"/>
          <p:nvPr/>
        </p:nvSpPr>
        <p:spPr>
          <a:xfrm>
            <a:off x="9829800" y="1810512"/>
            <a:ext cx="1508760" cy="658368"/>
          </a:xfrm>
          <a:prstGeom prst="rect">
            <a:avLst/>
          </a:prstGeom>
          <a:noFill/>
        </p:spPr>
        <p:txBody>
          <a:bodyPr wrap="none" tIns="0" bIns="0" lIns="0" rIns="0" anchor="t">
            <a:spAutoFit/>
          </a:bodyPr>
          <a:lstStyle/>
          <a:p>
            <a:pPr algn="ctr">
              <a:lnSpc>
                <a:spcPts val="2240"/>
              </a:lnSpc>
              <a:spcBef>
                <a:spcPts val="0"/>
              </a:spcBef>
              <a:spcAft>
                <a:spcPts val="0"/>
              </a:spcAft>
              <a:defRPr sz="2000" b="1">
                <a:solidFill>
                  <a:srgbClr val="17212D"/>
                </a:solidFill>
                <a:latin typeface="DejaVu Sans"/>
              </a:defRPr>
            </a:pPr>
            <a:r>
              <a:t>Score</a:t>
            </a:r>
            <a:br/>
            <a:r>
              <a:t>ranks</a:t>
            </a:r>
          </a:p>
        </p:txBody>
      </p:sp>
      <p:graphicFrame>
        <p:nvGraphicFramePr>
          <p:cNvPr id="13" name="Table 12"/>
          <p:cNvGraphicFramePr>
            <a:graphicFrameLocks noGrp="1"/>
          </p:cNvGraphicFramePr>
          <p:nvPr/>
        </p:nvGraphicFramePr>
        <p:xfrm>
          <a:off x="777240" y="2852928"/>
          <a:ext cx="10607040" cy="2743200"/>
        </p:xfrm>
        <a:graphic>
          <a:graphicData uri="http://schemas.openxmlformats.org/drawingml/2006/table">
            <a:tbl>
              <a:tblPr>
                <a:tableStyleId>{5C22544A-7EE6-4342-B048-85BDC9FD1C3A}</a:tableStyleId>
              </a:tblPr>
              <a:tblGrid>
                <a:gridCol w="2468880"/>
                <a:gridCol w="5486400"/>
                <a:gridCol w="2651760"/>
              </a:tblGrid>
              <a:tr h="457200">
                <a:tc>
                  <a:txBody>
                    <a:bodyPr wrap="none"/>
                    <a:lstStyle/>
                    <a:p>
                      <a:pPr algn="l">
                        <a:lnSpc>
                          <a:spcPts val="1980"/>
                        </a:lnSpc>
                        <a:spcBef>
                          <a:spcPts val="0"/>
                        </a:spcBef>
                        <a:spcAft>
                          <a:spcPts val="0"/>
                        </a:spcAft>
                        <a:defRPr sz="1800" b="1">
                          <a:solidFill>
                            <a:srgbClr val="17212D"/>
                          </a:solidFill>
                          <a:latin typeface="DejaVu Sans"/>
                        </a:defRPr>
                      </a:pPr>
                      <a:r>
                        <a:t>Method</a:t>
                      </a:r>
                    </a:p>
                  </a:txBody>
                  <a:tcPr marL="82296" marR="82296" marT="91440" marB="0" anchor="t">
                    <a:lnL w="6350">
                      <a:noFill/>
                    </a:lnL>
                    <a:lnR w="6350">
                      <a:noFill/>
                    </a:lnR>
                    <a:lnT w="6350">
                      <a:noFill/>
                    </a:lnT>
                    <a:lnB w="6350">
                      <a:solidFill>
                        <a:srgbClr val="D9DEE3"/>
                      </a:solidFill>
                    </a:lnB>
                    <a:solidFill>
                      <a:srgbClr val="F2F4F5"/>
                    </a:solidFill>
                  </a:tcPr>
                </a:tc>
                <a:tc>
                  <a:txBody>
                    <a:bodyPr wrap="none"/>
                    <a:lstStyle/>
                    <a:p>
                      <a:pPr algn="l">
                        <a:lnSpc>
                          <a:spcPts val="1980"/>
                        </a:lnSpc>
                        <a:spcBef>
                          <a:spcPts val="0"/>
                        </a:spcBef>
                        <a:spcAft>
                          <a:spcPts val="0"/>
                        </a:spcAft>
                        <a:defRPr sz="1800" b="1">
                          <a:solidFill>
                            <a:srgbClr val="17212D"/>
                          </a:solidFill>
                          <a:latin typeface="DejaVu Sans"/>
                        </a:defRPr>
                      </a:pPr>
                      <a:r>
                        <a:t>Score or model</a:t>
                      </a:r>
                    </a:p>
                  </a:txBody>
                  <a:tcPr marL="82296" marR="82296" marT="91440" marB="0" anchor="t">
                    <a:lnL w="6350">
                      <a:noFill/>
                    </a:lnL>
                    <a:lnR w="6350">
                      <a:noFill/>
                    </a:lnR>
                    <a:lnT w="6350">
                      <a:noFill/>
                    </a:lnT>
                    <a:lnB w="6350">
                      <a:solidFill>
                        <a:srgbClr val="D9DEE3"/>
                      </a:solidFill>
                    </a:lnB>
                    <a:solidFill>
                      <a:srgbClr val="F2F4F5"/>
                    </a:solidFill>
                  </a:tcPr>
                </a:tc>
                <a:tc>
                  <a:txBody>
                    <a:bodyPr wrap="none"/>
                    <a:lstStyle/>
                    <a:p>
                      <a:pPr algn="r">
                        <a:lnSpc>
                          <a:spcPts val="1980"/>
                        </a:lnSpc>
                        <a:spcBef>
                          <a:spcPts val="0"/>
                        </a:spcBef>
                        <a:spcAft>
                          <a:spcPts val="0"/>
                        </a:spcAft>
                        <a:defRPr sz="1800" b="1">
                          <a:solidFill>
                            <a:srgbClr val="17212D"/>
                          </a:solidFill>
                          <a:latin typeface="DejaVu Sans"/>
                        </a:defRPr>
                      </a:pPr>
                      <a:r>
                        <a:t>EMA sessions</a:t>
                      </a:r>
                    </a:p>
                  </a:txBody>
                  <a:tcPr marL="82296" marR="82296" marT="91440" marB="0" anchor="t">
                    <a:lnL w="6350">
                      <a:noFill/>
                    </a:lnL>
                    <a:lnR w="6350">
                      <a:noFill/>
                    </a:lnR>
                    <a:lnT w="6350">
                      <a:noFill/>
                    </a:lnT>
                    <a:lnB w="6350">
                      <a:solidFill>
                        <a:srgbClr val="D9DEE3"/>
                      </a:solidFill>
                    </a:lnB>
                    <a:solidFill>
                      <a:srgbClr val="F2F4F5"/>
                    </a:solidFill>
                  </a:tcPr>
                </a:tc>
              </a:tr>
              <a:tr h="457200">
                <a:tc>
                  <a:txBody>
                    <a:bodyPr wrap="none"/>
                    <a:lstStyle/>
                    <a:p>
                      <a:pPr algn="l">
                        <a:lnSpc>
                          <a:spcPts val="1980"/>
                        </a:lnSpc>
                        <a:spcBef>
                          <a:spcPts val="0"/>
                        </a:spcBef>
                        <a:spcAft>
                          <a:spcPts val="0"/>
                        </a:spcAft>
                        <a:defRPr sz="1800" b="0">
                          <a:solidFill>
                            <a:srgbClr val="17212D"/>
                          </a:solidFill>
                          <a:latin typeface="DejaVu Sans"/>
                        </a:defRPr>
                      </a:pPr>
                      <a:r>
                        <a:t>Fundamental</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l">
                        <a:lnSpc>
                          <a:spcPts val="1980"/>
                        </a:lnSpc>
                        <a:spcBef>
                          <a:spcPts val="0"/>
                        </a:spcBef>
                        <a:spcAft>
                          <a:spcPts val="0"/>
                        </a:spcAft>
                        <a:defRPr sz="1800" b="0">
                          <a:solidFill>
                            <a:srgbClr val="17212D"/>
                          </a:solidFill>
                          <a:latin typeface="DejaVu Sans"/>
                        </a:defRPr>
                      </a:pPr>
                      <a:r>
                        <a:t>Signed financial ranks</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20</a:t>
                      </a:r>
                    </a:p>
                  </a:txBody>
                  <a:tcPr marL="82296" marR="82296" marT="91440" marB="0" anchor="t">
                    <a:lnL w="6350">
                      <a:noFill/>
                    </a:lnL>
                    <a:lnR w="6350">
                      <a:noFill/>
                    </a:lnR>
                    <a:lnT w="6350">
                      <a:noFill/>
                    </a:lnT>
                    <a:lnB w="6350">
                      <a:solidFill>
                        <a:srgbClr val="D9DEE3"/>
                      </a:solidFill>
                    </a:lnB>
                    <a:solidFill>
                      <a:srgbClr val="FFFFFF"/>
                    </a:solidFill>
                  </a:tcPr>
                </a:tc>
              </a:tr>
              <a:tr h="457200">
                <a:tc>
                  <a:txBody>
                    <a:bodyPr wrap="none"/>
                    <a:lstStyle/>
                    <a:p>
                      <a:pPr algn="l">
                        <a:lnSpc>
                          <a:spcPts val="1980"/>
                        </a:lnSpc>
                        <a:spcBef>
                          <a:spcPts val="0"/>
                        </a:spcBef>
                        <a:spcAft>
                          <a:spcPts val="0"/>
                        </a:spcAft>
                        <a:defRPr sz="1800" b="0">
                          <a:solidFill>
                            <a:srgbClr val="17212D"/>
                          </a:solidFill>
                          <a:latin typeface="DejaVu Sans"/>
                        </a:defRPr>
                      </a:pPr>
                      <a:r>
                        <a:t>Combined</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l">
                        <a:lnSpc>
                          <a:spcPts val="1980"/>
                        </a:lnSpc>
                        <a:spcBef>
                          <a:spcPts val="0"/>
                        </a:spcBef>
                        <a:spcAft>
                          <a:spcPts val="0"/>
                        </a:spcAft>
                        <a:defRPr sz="1800" b="0">
                          <a:solidFill>
                            <a:srgbClr val="17212D"/>
                          </a:solidFill>
                          <a:latin typeface="DejaVu Sans"/>
                        </a:defRPr>
                      </a:pPr>
                      <a:r>
                        <a:t>Equal financial / technical families</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40</a:t>
                      </a:r>
                    </a:p>
                  </a:txBody>
                  <a:tcPr marL="82296" marR="82296" marT="91440" marB="0" anchor="t">
                    <a:lnL w="6350">
                      <a:noFill/>
                    </a:lnL>
                    <a:lnR w="6350">
                      <a:noFill/>
                    </a:lnR>
                    <a:lnT w="6350">
                      <a:noFill/>
                    </a:lnT>
                    <a:lnB w="6350">
                      <a:solidFill>
                        <a:srgbClr val="D9DEE3"/>
                      </a:solidFill>
                    </a:lnB>
                    <a:solidFill>
                      <a:srgbClr val="FFFFFF"/>
                    </a:solidFill>
                  </a:tcPr>
                </a:tc>
              </a:tr>
              <a:tr h="457200">
                <a:tc>
                  <a:txBody>
                    <a:bodyPr wrap="none"/>
                    <a:lstStyle/>
                    <a:p>
                      <a:pPr algn="l">
                        <a:lnSpc>
                          <a:spcPts val="1980"/>
                        </a:lnSpc>
                        <a:spcBef>
                          <a:spcPts val="0"/>
                        </a:spcBef>
                        <a:spcAft>
                          <a:spcPts val="0"/>
                        </a:spcAft>
                        <a:defRPr sz="1800" b="1">
                          <a:solidFill>
                            <a:srgbClr val="007C83"/>
                          </a:solidFill>
                          <a:latin typeface="DejaVu Sans"/>
                        </a:defRPr>
                      </a:pPr>
                      <a:r>
                        <a:t>Ridge</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l">
                        <a:lnSpc>
                          <a:spcPts val="1980"/>
                        </a:lnSpc>
                        <a:spcBef>
                          <a:spcPts val="0"/>
                        </a:spcBef>
                        <a:spcAft>
                          <a:spcPts val="0"/>
                        </a:spcAft>
                        <a:defRPr sz="1800" b="1">
                          <a:solidFill>
                            <a:srgbClr val="007C83"/>
                          </a:solidFill>
                          <a:latin typeface="DejaVu Sans"/>
                        </a:defRPr>
                      </a:pPr>
                      <a:r>
                        <a:t>alpha = 10,000</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1">
                          <a:solidFill>
                            <a:srgbClr val="007C83"/>
                          </a:solidFill>
                          <a:latin typeface="DejaVu Sans"/>
                        </a:defRPr>
                      </a:pPr>
                      <a:r>
                        <a:t>20</a:t>
                      </a:r>
                    </a:p>
                  </a:txBody>
                  <a:tcPr marL="82296" marR="82296" marT="91440" marB="0" anchor="t">
                    <a:lnL w="6350">
                      <a:noFill/>
                    </a:lnL>
                    <a:lnR w="6350">
                      <a:noFill/>
                    </a:lnR>
                    <a:lnT w="6350">
                      <a:noFill/>
                    </a:lnT>
                    <a:lnB w="6350">
                      <a:solidFill>
                        <a:srgbClr val="D9DEE3"/>
                      </a:solidFill>
                    </a:lnB>
                    <a:solidFill>
                      <a:srgbClr val="FFFFFF"/>
                    </a:solidFill>
                  </a:tcPr>
                </a:tc>
              </a:tr>
              <a:tr h="457200">
                <a:tc>
                  <a:txBody>
                    <a:bodyPr wrap="none"/>
                    <a:lstStyle/>
                    <a:p>
                      <a:pPr algn="l">
                        <a:lnSpc>
                          <a:spcPts val="1980"/>
                        </a:lnSpc>
                        <a:spcBef>
                          <a:spcPts val="0"/>
                        </a:spcBef>
                        <a:spcAft>
                          <a:spcPts val="0"/>
                        </a:spcAft>
                        <a:defRPr sz="1800" b="0">
                          <a:solidFill>
                            <a:srgbClr val="17212D"/>
                          </a:solidFill>
                          <a:latin typeface="DejaVu Sans"/>
                        </a:defRPr>
                      </a:pPr>
                      <a:r>
                        <a:t>Lasso</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l">
                        <a:lnSpc>
                          <a:spcPts val="1980"/>
                        </a:lnSpc>
                        <a:spcBef>
                          <a:spcPts val="0"/>
                        </a:spcBef>
                        <a:spcAft>
                          <a:spcPts val="0"/>
                        </a:spcAft>
                        <a:defRPr sz="1800" b="0">
                          <a:solidFill>
                            <a:srgbClr val="17212D"/>
                          </a:solidFill>
                          <a:latin typeface="DejaVu Sans"/>
                        </a:defRPr>
                      </a:pPr>
                      <a:r>
                        <a:t>Historical time-validation alpha</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20</a:t>
                      </a:r>
                    </a:p>
                  </a:txBody>
                  <a:tcPr marL="82296" marR="82296" marT="91440" marB="0" anchor="t">
                    <a:lnL w="6350">
                      <a:noFill/>
                    </a:lnL>
                    <a:lnR w="6350">
                      <a:noFill/>
                    </a:lnR>
                    <a:lnT w="6350">
                      <a:noFill/>
                    </a:lnT>
                    <a:lnB w="6350">
                      <a:solidFill>
                        <a:srgbClr val="D9DEE3"/>
                      </a:solidFill>
                    </a:lnB>
                    <a:solidFill>
                      <a:srgbClr val="FFFFFF"/>
                    </a:solidFill>
                  </a:tcPr>
                </a:tc>
              </a:tr>
              <a:tr h="457200">
                <a:tc>
                  <a:txBody>
                    <a:bodyPr wrap="none"/>
                    <a:lstStyle/>
                    <a:p>
                      <a:pPr algn="l">
                        <a:lnSpc>
                          <a:spcPts val="1980"/>
                        </a:lnSpc>
                        <a:spcBef>
                          <a:spcPts val="0"/>
                        </a:spcBef>
                        <a:spcAft>
                          <a:spcPts val="0"/>
                        </a:spcAft>
                        <a:defRPr sz="1800" b="0">
                          <a:solidFill>
                            <a:srgbClr val="17212D"/>
                          </a:solidFill>
                          <a:latin typeface="DejaVu Sans"/>
                        </a:defRPr>
                      </a:pPr>
                      <a:r>
                        <a:t>LightGBM</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l">
                        <a:lnSpc>
                          <a:spcPts val="1980"/>
                        </a:lnSpc>
                        <a:spcBef>
                          <a:spcPts val="0"/>
                        </a:spcBef>
                        <a:spcAft>
                          <a:spcPts val="0"/>
                        </a:spcAft>
                        <a:defRPr sz="1800" b="0">
                          <a:solidFill>
                            <a:srgbClr val="17212D"/>
                          </a:solidFill>
                          <a:latin typeface="DejaVu Sans"/>
                        </a:defRPr>
                      </a:pPr>
                      <a:r>
                        <a:t>depth 3; 7 leaves; 56 trees</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40</a:t>
                      </a:r>
                    </a:p>
                  </a:txBody>
                  <a:tcPr marL="82296" marR="82296" marT="91440" marB="0" anchor="t">
                    <a:lnL w="6350">
                      <a:noFill/>
                    </a:lnL>
                    <a:lnR w="6350">
                      <a:noFill/>
                    </a:lnR>
                    <a:lnT w="6350">
                      <a:noFill/>
                    </a:lnT>
                    <a:lnB w="6350">
                      <a:solidFill>
                        <a:srgbClr val="D9DEE3"/>
                      </a:solidFill>
                    </a:lnB>
                    <a:solidFill>
                      <a:srgbClr val="FFFFFF"/>
                    </a:solidFill>
                  </a:tcPr>
                </a:tc>
              </a:tr>
            </a:tbl>
          </a:graphicData>
        </a:graphic>
      </p:graphicFrame>
      <p:sp>
        <p:nvSpPr>
          <p:cNvPr id="14" name="TextBox 13"/>
          <p:cNvSpPr txBox="1"/>
          <p:nvPr/>
        </p:nvSpPr>
        <p:spPr>
          <a:xfrm>
            <a:off x="896112" y="5925312"/>
            <a:ext cx="10378440" cy="45720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Industry and log-size residualization precede the causal score EMA.</a:t>
            </a:r>
          </a:p>
        </p:txBody>
      </p:sp>
      <p:sp>
        <p:nvSpPr>
          <p:cNvPr id="15" name="TextBox 14"/>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Portfolio construction and execution</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Top 100 and equal-weight pool portfolios use the same implementation rules</a:t>
            </a:r>
          </a:p>
        </p:txBody>
      </p:sp>
      <p:sp>
        <p:nvSpPr>
          <p:cNvPr id="4" name="TextBox 3"/>
          <p:cNvSpPr txBox="1"/>
          <p:nvPr/>
        </p:nvSpPr>
        <p:spPr>
          <a:xfrm>
            <a:off x="914400" y="1792224"/>
            <a:ext cx="4937760" cy="365760"/>
          </a:xfrm>
          <a:prstGeom prst="rect">
            <a:avLst/>
          </a:prstGeom>
          <a:noFill/>
        </p:spPr>
        <p:txBody>
          <a:bodyPr wrap="none" tIns="0" bIns="0" lIns="0" rIns="0" anchor="t">
            <a:spAutoFit/>
          </a:bodyPr>
          <a:lstStyle/>
          <a:p>
            <a:pPr algn="l">
              <a:lnSpc>
                <a:spcPts val="2576"/>
              </a:lnSpc>
              <a:spcBef>
                <a:spcPts val="0"/>
              </a:spcBef>
              <a:spcAft>
                <a:spcPts val="0"/>
              </a:spcAft>
              <a:defRPr sz="2300" b="1">
                <a:solidFill>
                  <a:srgbClr val="17212D"/>
                </a:solidFill>
                <a:latin typeface="DejaVu Sans"/>
              </a:defRPr>
            </a:pPr>
            <a:r>
              <a:t>Selection and timing</a:t>
            </a:r>
          </a:p>
        </p:txBody>
      </p:sp>
      <p:sp>
        <p:nvSpPr>
          <p:cNvPr id="5" name="TextBox 4"/>
          <p:cNvSpPr txBox="1"/>
          <p:nvPr/>
        </p:nvSpPr>
        <p:spPr>
          <a:xfrm>
            <a:off x="914400" y="2441448"/>
            <a:ext cx="4937760" cy="1645920"/>
          </a:xfrm>
          <a:prstGeom prst="rect">
            <a:avLst/>
          </a:prstGeom>
          <a:noFill/>
        </p:spPr>
        <p:txBody>
          <a:bodyPr wrap="none" tIns="0" bIns="0" lIns="0" rIns="0" anchor="t">
            <a:spAutoFit/>
          </a:bodyPr>
          <a:lstStyle/>
          <a:p>
            <a:pPr algn="l">
              <a:lnSpc>
                <a:spcPts val="2352"/>
              </a:lnSpc>
              <a:spcBef>
                <a:spcPts val="0"/>
              </a:spcBef>
              <a:spcAft>
                <a:spcPts val="0"/>
              </a:spcAft>
              <a:defRPr sz="2100" b="0">
                <a:solidFill>
                  <a:srgbClr val="17212D"/>
                </a:solidFill>
                <a:latin typeface="DejaVu Sans"/>
              </a:defRPr>
            </a:pPr>
            <a:r>
              <a:t>Equal-weight Top 100</a:t>
            </a:r>
            <a:br/>
            <a:r>
              <a:t>Continuous 20-session targets</a:t>
            </a:r>
            <a:br/>
            <a:r>
              <a:t>Close signals, next-open trading</a:t>
            </a:r>
            <a:br/>
            <a:r>
              <a:t>T+1, limits and order retries</a:t>
            </a:r>
          </a:p>
        </p:txBody>
      </p:sp>
      <p:sp>
        <p:nvSpPr>
          <p:cNvPr id="6" name="TextBox 5"/>
          <p:cNvSpPr txBox="1"/>
          <p:nvPr/>
        </p:nvSpPr>
        <p:spPr>
          <a:xfrm>
            <a:off x="6492240" y="1792224"/>
            <a:ext cx="4754880" cy="365760"/>
          </a:xfrm>
          <a:prstGeom prst="rect">
            <a:avLst/>
          </a:prstGeom>
          <a:noFill/>
        </p:spPr>
        <p:txBody>
          <a:bodyPr wrap="none" tIns="0" bIns="0" lIns="0" rIns="0" anchor="t">
            <a:spAutoFit/>
          </a:bodyPr>
          <a:lstStyle/>
          <a:p>
            <a:pPr algn="l">
              <a:lnSpc>
                <a:spcPts val="2576"/>
              </a:lnSpc>
              <a:spcBef>
                <a:spcPts val="0"/>
              </a:spcBef>
              <a:spcAft>
                <a:spcPts val="0"/>
              </a:spcAft>
              <a:defRPr sz="2300" b="1">
                <a:solidFill>
                  <a:srgbClr val="17212D"/>
                </a:solidFill>
                <a:latin typeface="DejaVu Sans"/>
              </a:defRPr>
            </a:pPr>
            <a:r>
              <a:t>Matched benchmark</a:t>
            </a:r>
          </a:p>
        </p:txBody>
      </p:sp>
      <p:sp>
        <p:nvSpPr>
          <p:cNvPr id="7" name="TextBox 6"/>
          <p:cNvSpPr txBox="1"/>
          <p:nvPr/>
        </p:nvSpPr>
        <p:spPr>
          <a:xfrm>
            <a:off x="6492240" y="2441448"/>
            <a:ext cx="4754880" cy="1645920"/>
          </a:xfrm>
          <a:prstGeom prst="rect">
            <a:avLst/>
          </a:prstGeom>
          <a:noFill/>
        </p:spPr>
        <p:txBody>
          <a:bodyPr wrap="none" tIns="0" bIns="0" lIns="0" rIns="0" anchor="t">
            <a:spAutoFit/>
          </a:bodyPr>
          <a:lstStyle/>
          <a:p>
            <a:pPr algn="l">
              <a:lnSpc>
                <a:spcPts val="2352"/>
              </a:lnSpc>
              <a:spcBef>
                <a:spcPts val="0"/>
              </a:spcBef>
              <a:spcAft>
                <a:spcPts val="0"/>
              </a:spcAft>
              <a:defRPr sz="2100" b="0">
                <a:solidFill>
                  <a:srgbClr val="17212D"/>
                </a:solidFill>
                <a:latin typeface="DejaVu Sans"/>
              </a:defRPr>
            </a:pPr>
            <a:r>
              <a:t>Equal-weight common stock pool</a:t>
            </a:r>
            <a:br/>
            <a:r>
              <a:t>Same cadence and cash</a:t>
            </a:r>
            <a:br/>
            <a:r>
              <a:t>constraints</a:t>
            </a:r>
            <a:br/>
            <a:r>
              <a:t>Same restrictions and costs</a:t>
            </a:r>
            <a:br/>
            <a:r>
              <a:t>CSI500 is an auxiliary reference</a:t>
            </a:r>
          </a:p>
        </p:txBody>
      </p:sp>
      <p:graphicFrame>
        <p:nvGraphicFramePr>
          <p:cNvPr id="8" name="Table 7"/>
          <p:cNvGraphicFramePr>
            <a:graphicFrameLocks noGrp="1"/>
          </p:cNvGraphicFramePr>
          <p:nvPr/>
        </p:nvGraphicFramePr>
        <p:xfrm>
          <a:off x="777240" y="4645152"/>
          <a:ext cx="10607040" cy="1060704"/>
        </p:xfrm>
        <a:graphic>
          <a:graphicData uri="http://schemas.openxmlformats.org/drawingml/2006/table">
            <a:tbl>
              <a:tblPr>
                <a:tableStyleId>{5C22544A-7EE6-4342-B048-85BDC9FD1C3A}</a:tableStyleId>
              </a:tblPr>
              <a:tblGrid>
                <a:gridCol w="3200400"/>
                <a:gridCol w="3200400"/>
                <a:gridCol w="4206240"/>
              </a:tblGrid>
              <a:tr h="530352">
                <a:tc>
                  <a:txBody>
                    <a:bodyPr wrap="none"/>
                    <a:lstStyle/>
                    <a:p>
                      <a:pPr algn="l">
                        <a:lnSpc>
                          <a:spcPts val="1980"/>
                        </a:lnSpc>
                        <a:spcBef>
                          <a:spcPts val="0"/>
                        </a:spcBef>
                        <a:spcAft>
                          <a:spcPts val="0"/>
                        </a:spcAft>
                        <a:defRPr sz="1800" b="1">
                          <a:solidFill>
                            <a:srgbClr val="17212D"/>
                          </a:solidFill>
                          <a:latin typeface="DejaVu Sans"/>
                        </a:defRPr>
                      </a:pPr>
                      <a:r>
                        <a:t>Commission</a:t>
                      </a:r>
                    </a:p>
                  </a:txBody>
                  <a:tcPr marL="82296" marR="82296" marT="91440" marB="0" anchor="t">
                    <a:lnL w="6350">
                      <a:noFill/>
                    </a:lnL>
                    <a:lnR w="6350">
                      <a:noFill/>
                    </a:lnR>
                    <a:lnT w="6350">
                      <a:noFill/>
                    </a:lnT>
                    <a:lnB w="6350">
                      <a:solidFill>
                        <a:srgbClr val="D9DEE3"/>
                      </a:solidFill>
                    </a:lnB>
                    <a:solidFill>
                      <a:srgbClr val="F2F4F5"/>
                    </a:solidFill>
                  </a:tcPr>
                </a:tc>
                <a:tc>
                  <a:txBody>
                    <a:bodyPr wrap="none"/>
                    <a:lstStyle/>
                    <a:p>
                      <a:pPr algn="l">
                        <a:lnSpc>
                          <a:spcPts val="1980"/>
                        </a:lnSpc>
                        <a:spcBef>
                          <a:spcPts val="0"/>
                        </a:spcBef>
                        <a:spcAft>
                          <a:spcPts val="0"/>
                        </a:spcAft>
                        <a:defRPr sz="1800" b="1">
                          <a:solidFill>
                            <a:srgbClr val="17212D"/>
                          </a:solidFill>
                          <a:latin typeface="DejaVu Sans"/>
                        </a:defRPr>
                      </a:pPr>
                      <a:r>
                        <a:t>Slippage</a:t>
                      </a:r>
                    </a:p>
                  </a:txBody>
                  <a:tcPr marL="82296" marR="82296" marT="91440" marB="0" anchor="t">
                    <a:lnL w="6350">
                      <a:noFill/>
                    </a:lnL>
                    <a:lnR w="6350">
                      <a:noFill/>
                    </a:lnR>
                    <a:lnT w="6350">
                      <a:noFill/>
                    </a:lnT>
                    <a:lnB w="6350">
                      <a:solidFill>
                        <a:srgbClr val="D9DEE3"/>
                      </a:solidFill>
                    </a:lnB>
                    <a:solidFill>
                      <a:srgbClr val="F2F4F5"/>
                    </a:solidFill>
                  </a:tcPr>
                </a:tc>
                <a:tc>
                  <a:txBody>
                    <a:bodyPr wrap="none"/>
                    <a:lstStyle/>
                    <a:p>
                      <a:pPr algn="l">
                        <a:lnSpc>
                          <a:spcPts val="1980"/>
                        </a:lnSpc>
                        <a:spcBef>
                          <a:spcPts val="0"/>
                        </a:spcBef>
                        <a:spcAft>
                          <a:spcPts val="0"/>
                        </a:spcAft>
                        <a:defRPr sz="1800" b="1">
                          <a:solidFill>
                            <a:srgbClr val="17212D"/>
                          </a:solidFill>
                          <a:latin typeface="DejaVu Sans"/>
                        </a:defRPr>
                      </a:pPr>
                      <a:r>
                        <a:t>Sell stamp tax</a:t>
                      </a:r>
                    </a:p>
                  </a:txBody>
                  <a:tcPr marL="82296" marR="82296" marT="91440" marB="0" anchor="t">
                    <a:lnL w="6350">
                      <a:noFill/>
                    </a:lnL>
                    <a:lnR w="6350">
                      <a:noFill/>
                    </a:lnR>
                    <a:lnT w="6350">
                      <a:noFill/>
                    </a:lnT>
                    <a:lnB w="6350">
                      <a:solidFill>
                        <a:srgbClr val="D9DEE3"/>
                      </a:solidFill>
                    </a:lnB>
                    <a:solidFill>
                      <a:srgbClr val="F2F4F5"/>
                    </a:solidFill>
                  </a:tcPr>
                </a:tc>
              </a:tr>
              <a:tr h="530352">
                <a:tc>
                  <a:txBody>
                    <a:bodyPr wrap="none"/>
                    <a:lstStyle/>
                    <a:p>
                      <a:pPr algn="l">
                        <a:lnSpc>
                          <a:spcPts val="1980"/>
                        </a:lnSpc>
                        <a:spcBef>
                          <a:spcPts val="0"/>
                        </a:spcBef>
                        <a:spcAft>
                          <a:spcPts val="0"/>
                        </a:spcAft>
                        <a:defRPr sz="1800" b="0">
                          <a:solidFill>
                            <a:srgbClr val="17212D"/>
                          </a:solidFill>
                          <a:latin typeface="DejaVu Sans"/>
                        </a:defRPr>
                      </a:pPr>
                      <a:r>
                        <a:t>3 bp per side</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l">
                        <a:lnSpc>
                          <a:spcPts val="1980"/>
                        </a:lnSpc>
                        <a:spcBef>
                          <a:spcPts val="0"/>
                        </a:spcBef>
                        <a:spcAft>
                          <a:spcPts val="0"/>
                        </a:spcAft>
                        <a:defRPr sz="1800" b="0">
                          <a:solidFill>
                            <a:srgbClr val="17212D"/>
                          </a:solidFill>
                          <a:latin typeface="DejaVu Sans"/>
                        </a:defRPr>
                      </a:pPr>
                      <a:r>
                        <a:t>5 bp per side</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l">
                        <a:lnSpc>
                          <a:spcPts val="1980"/>
                        </a:lnSpc>
                        <a:spcBef>
                          <a:spcPts val="0"/>
                        </a:spcBef>
                        <a:spcAft>
                          <a:spcPts val="0"/>
                        </a:spcAft>
                        <a:defRPr sz="1800" b="0">
                          <a:solidFill>
                            <a:srgbClr val="17212D"/>
                          </a:solidFill>
                          <a:latin typeface="DejaVu Sans"/>
                        </a:defRPr>
                      </a:pPr>
                      <a:r>
                        <a:t>10 → 5 bp on 28 Aug 2023</a:t>
                      </a:r>
                    </a:p>
                  </a:txBody>
                  <a:tcPr marL="82296" marR="82296" marT="91440" marB="0" anchor="t">
                    <a:lnL w="6350">
                      <a:noFill/>
                    </a:lnL>
                    <a:lnR w="6350">
                      <a:noFill/>
                    </a:lnR>
                    <a:lnT w="6350">
                      <a:noFill/>
                    </a:lnT>
                    <a:lnB w="6350">
                      <a:solidFill>
                        <a:srgbClr val="D9DEE3"/>
                      </a:solidFill>
                    </a:lnB>
                    <a:solidFill>
                      <a:srgbClr val="FFFFFF"/>
                    </a:solidFill>
                  </a:tcPr>
                </a:tc>
              </a:tr>
            </a:tbl>
          </a:graphicData>
        </a:graphic>
      </p:graphicFrame>
      <p:sp>
        <p:nvSpPr>
          <p:cNvPr id="9" name="TextBox 8"/>
          <p:cNvSpPr txBox="1"/>
          <p:nvPr/>
        </p:nvSpPr>
        <p:spPr>
          <a:xfrm>
            <a:off x="896112" y="5989320"/>
            <a:ext cx="10378440" cy="365760"/>
          </a:xfrm>
          <a:prstGeom prst="rect">
            <a:avLst/>
          </a:prstGeom>
          <a:noFill/>
        </p:spPr>
        <p:txBody>
          <a:bodyPr wrap="none" tIns="0" bIns="0" lIns="0" rIns="0" anchor="t">
            <a:spAutoFit/>
          </a:bodyPr>
          <a:lstStyle/>
          <a:p>
            <a:pPr algn="l">
              <a:lnSpc>
                <a:spcPts val="2016"/>
              </a:lnSpc>
              <a:spcBef>
                <a:spcPts val="0"/>
              </a:spcBef>
              <a:spcAft>
                <a:spcPts val="0"/>
              </a:spcAft>
              <a:defRPr sz="1800" b="0">
                <a:solidFill>
                  <a:srgbClr val="68737E"/>
                </a:solidFill>
                <a:latin typeface="DejaVu Sans"/>
              </a:defRPr>
            </a:pPr>
            <a:r>
              <a:t>Twelve sourced company events use explicit claims and settlement dates.</a:t>
            </a:r>
          </a:p>
        </p:txBody>
      </p:sp>
      <p:sp>
        <p:nvSpPr>
          <p:cNvPr id="10" name="TextBox 9"/>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Gross absolute return</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2 Jan 2018 – 29 Apr 2026</a:t>
            </a:r>
          </a:p>
        </p:txBody>
      </p:sp>
      <p:pic>
        <p:nvPicPr>
          <p:cNvPr id="4" name="Picture 3" descr="gross_absolute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All five methods and the equal-weight pool are shown over the full history.</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Net absolute return</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2 Jan 2018 – 29 Apr 2026</a:t>
            </a:r>
          </a:p>
        </p:txBody>
      </p:sp>
      <p:pic>
        <p:nvPicPr>
          <p:cNvPr id="4" name="Picture 3" descr="net_absolute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2021–2025: Ridge 195.66%; matched pool 76.60%.</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Gross excess return</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2 Jan 2018 – 29 Apr 2026 · Daily differences versus the gross pool (pp)</a:t>
            </a:r>
          </a:p>
        </p:txBody>
      </p:sp>
      <p:pic>
        <p:nvPicPr>
          <p:cNvPr id="4" name="Picture 3" descr="gross_excess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The pool's own excess is zero; absolute wealth uses a different calculation.</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Net excess return</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2 Jan 2018 – 29 Apr 2026 · Daily differences versus the net pool (pp)</a:t>
            </a:r>
          </a:p>
        </p:txBody>
      </p:sp>
      <p:pic>
        <p:nvPicPr>
          <p:cNvPr id="4" name="Picture 3" descr="net_excess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Ridge's 2026 daily net excess is +0.56 pp through 29 Apr 2026.</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Return comes with drawdown risk</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Full-history drawdown and 2021–2025 net return / volatility</a:t>
            </a:r>
          </a:p>
        </p:txBody>
      </p:sp>
      <p:sp>
        <p:nvSpPr>
          <p:cNvPr id="4" name="TextBox 3"/>
          <p:cNvSpPr txBox="1"/>
          <p:nvPr/>
        </p:nvSpPr>
        <p:spPr>
          <a:xfrm>
            <a:off x="896112" y="1627632"/>
            <a:ext cx="4800600" cy="274320"/>
          </a:xfrm>
          <a:prstGeom prst="rect">
            <a:avLst/>
          </a:prstGeom>
          <a:noFill/>
        </p:spPr>
        <p:txBody>
          <a:bodyPr wrap="none" tIns="0" bIns="0" lIns="0" rIns="0" anchor="t">
            <a:spAutoFit/>
          </a:bodyPr>
          <a:lstStyle/>
          <a:p>
            <a:pPr algn="l">
              <a:lnSpc>
                <a:spcPts val="1904"/>
              </a:lnSpc>
              <a:spcBef>
                <a:spcPts val="0"/>
              </a:spcBef>
              <a:spcAft>
                <a:spcPts val="0"/>
              </a:spcAft>
              <a:defRPr sz="1700" b="1">
                <a:solidFill>
                  <a:srgbClr val="17212D"/>
                </a:solidFill>
                <a:latin typeface="DejaVu Sans"/>
              </a:defRPr>
            </a:pPr>
            <a:r>
              <a:t>DRAWDOWN</a:t>
            </a:r>
          </a:p>
        </p:txBody>
      </p:sp>
      <p:sp>
        <p:nvSpPr>
          <p:cNvPr id="5" name="TextBox 4"/>
          <p:cNvSpPr txBox="1"/>
          <p:nvPr/>
        </p:nvSpPr>
        <p:spPr>
          <a:xfrm>
            <a:off x="6510528" y="1627632"/>
            <a:ext cx="4800600" cy="274320"/>
          </a:xfrm>
          <a:prstGeom prst="rect">
            <a:avLst/>
          </a:prstGeom>
          <a:noFill/>
        </p:spPr>
        <p:txBody>
          <a:bodyPr wrap="none" tIns="0" bIns="0" lIns="0" rIns="0" anchor="t">
            <a:spAutoFit/>
          </a:bodyPr>
          <a:lstStyle/>
          <a:p>
            <a:pPr algn="l">
              <a:lnSpc>
                <a:spcPts val="1904"/>
              </a:lnSpc>
              <a:spcBef>
                <a:spcPts val="0"/>
              </a:spcBef>
              <a:spcAft>
                <a:spcPts val="0"/>
              </a:spcAft>
              <a:defRPr sz="1700" b="1">
                <a:solidFill>
                  <a:srgbClr val="17212D"/>
                </a:solidFill>
                <a:latin typeface="DejaVu Sans"/>
              </a:defRPr>
            </a:pPr>
            <a:r>
              <a:t>RETURN / RISK</a:t>
            </a:r>
          </a:p>
        </p:txBody>
      </p:sp>
      <p:pic>
        <p:nvPicPr>
          <p:cNvPr id="6" name="Picture 5" descr="drawdown_slide.png"/>
          <p:cNvPicPr>
            <a:picLocks noChangeAspect="1"/>
          </p:cNvPicPr>
          <p:nvPr/>
        </p:nvPicPr>
        <p:blipFill>
          <a:blip r:embed="rId2"/>
          <a:stretch>
            <a:fillRect/>
          </a:stretch>
        </p:blipFill>
        <p:spPr>
          <a:xfrm>
            <a:off x="914399" y="1924812"/>
            <a:ext cx="4754880" cy="3749039"/>
          </a:xfrm>
          <a:prstGeom prst="rect">
            <a:avLst/>
          </a:prstGeom>
        </p:spPr>
      </p:pic>
      <p:pic>
        <p:nvPicPr>
          <p:cNvPr id="7" name="Picture 6" descr="risk_return_slide.png"/>
          <p:cNvPicPr>
            <a:picLocks noChangeAspect="1"/>
          </p:cNvPicPr>
          <p:nvPr/>
        </p:nvPicPr>
        <p:blipFill>
          <a:blip r:embed="rId3"/>
          <a:stretch>
            <a:fillRect/>
          </a:stretch>
        </p:blipFill>
        <p:spPr>
          <a:xfrm>
            <a:off x="6519672" y="1924812"/>
            <a:ext cx="4754880" cy="3749039"/>
          </a:xfrm>
          <a:prstGeom prst="rect">
            <a:avLst/>
          </a:prstGeom>
        </p:spPr>
      </p:pic>
      <p:sp>
        <p:nvSpPr>
          <p:cNvPr id="8" name="TextBox 7"/>
          <p:cNvSpPr txBox="1"/>
          <p:nvPr/>
        </p:nvSpPr>
        <p:spPr>
          <a:xfrm>
            <a:off x="896112" y="5989320"/>
            <a:ext cx="10378440" cy="41148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Ridge max. drawdown: -33.0%; pool: -32.4%.</a:t>
            </a:r>
          </a:p>
        </p:txBody>
      </p:sp>
      <p:sp>
        <p:nvSpPr>
          <p:cNvPr id="9" name="TextBox 8"/>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Monthly net excess</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Ridge · Sum of daily net differences within each month, in pp</a:t>
            </a:r>
          </a:p>
        </p:txBody>
      </p:sp>
      <p:pic>
        <p:nvPicPr>
          <p:cNvPr id="4" name="Picture 3" descr="calendar_excess_slide.png"/>
          <p:cNvPicPr>
            <a:picLocks noChangeAspect="1"/>
          </p:cNvPicPr>
          <p:nvPr/>
        </p:nvPicPr>
        <p:blipFill>
          <a:blip r:embed="rId2"/>
          <a:stretch>
            <a:fillRect/>
          </a:stretch>
        </p:blipFill>
        <p:spPr>
          <a:xfrm>
            <a:off x="2354580" y="1581911"/>
            <a:ext cx="7498079" cy="411480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2026 ends on 29 April; later months remain unobserved.</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Calendar-year net return</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Ridge and the matched pool · Compounded within each calendar year</a:t>
            </a:r>
          </a:p>
        </p:txBody>
      </p:sp>
      <p:pic>
        <p:nvPicPr>
          <p:cNvPr id="4" name="Picture 3" descr="annual_return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The 2026 bar covers observations only through 29 Apr 2026.</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Monthly portfolio turnover</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Half of traded notional divided by opening wealth; summed within month</a:t>
            </a:r>
          </a:p>
        </p:txBody>
      </p:sp>
      <p:pic>
        <p:nvPicPr>
          <p:cNvPr id="4" name="Picture 3" descr="turnover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Twenty-session targets retain blocked-order retries and company-event trades.</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Trading costs by calendar year</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Annual sums of daily cost / opening NAV (pp); 2026 through 29 April</a:t>
            </a:r>
          </a:p>
        </p:txBody>
      </p:sp>
      <p:pic>
        <p:nvPicPr>
          <p:cNvPr id="4" name="Picture 3" descr="costs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Cost-to-NAV sums and compounded terminal wealth measure different</a:t>
            </a:r>
            <a:br/>
            <a:r>
              <a:t>quantities.</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Cross-sectional prediction quality</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Annual mean Spearman IC · Mature labels; 2026 signals through 30 March</a:t>
            </a:r>
          </a:p>
        </p:txBody>
      </p:sp>
      <p:pic>
        <p:nvPicPr>
          <p:cNvPr id="4" name="Picture 3" descr="rank_ic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Full-rank prediction quality can coexist with weak top-ranked returns.</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Score quintiles: 2021–2025</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Mean 20-session same-pool excess before costs, in pp; overlapping cohorts</a:t>
            </a:r>
          </a:p>
        </p:txBody>
      </p:sp>
      <p:pic>
        <p:nvPicPr>
          <p:cNvPr id="4" name="Picture 3" descr="quintile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Higher development scores associate with higher cohort excess.</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Score quintiles: 2026</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55 mature signal dates; last signal 30 Mar 2026; same-pool excess, pp</a:t>
            </a:r>
          </a:p>
        </p:txBody>
      </p:sp>
      <p:pic>
        <p:nvPicPr>
          <p:cNvPr id="4" name="Picture 3" descr="quintile_2026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The latest-year relationship is weak and non-monotone.</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Lasso: sparse model, matched experiment</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Same eight inputs, EMA20 and execution as Ridge; L1 rather than L2 penalty</a:t>
            </a:r>
          </a:p>
        </p:txBody>
      </p:sp>
      <p:graphicFrame>
        <p:nvGraphicFramePr>
          <p:cNvPr id="4" name="Table 3"/>
          <p:cNvGraphicFramePr>
            <a:graphicFrameLocks noGrp="1"/>
          </p:cNvGraphicFramePr>
          <p:nvPr/>
        </p:nvGraphicFramePr>
        <p:xfrm>
          <a:off x="777240" y="1691640"/>
          <a:ext cx="10607040" cy="2816352"/>
        </p:xfrm>
        <a:graphic>
          <a:graphicData uri="http://schemas.openxmlformats.org/drawingml/2006/table">
            <a:tbl>
              <a:tblPr>
                <a:tableStyleId>{5C22544A-7EE6-4342-B048-85BDC9FD1C3A}</a:tableStyleId>
              </a:tblPr>
              <a:tblGrid>
                <a:gridCol w="2011680"/>
                <a:gridCol w="2331720"/>
                <a:gridCol w="2240280"/>
                <a:gridCol w="4023360"/>
              </a:tblGrid>
              <a:tr h="402336">
                <a:tc>
                  <a:txBody>
                    <a:bodyPr wrap="none"/>
                    <a:lstStyle/>
                    <a:p>
                      <a:pPr algn="l">
                        <a:lnSpc>
                          <a:spcPts val="1980"/>
                        </a:lnSpc>
                        <a:spcBef>
                          <a:spcPts val="0"/>
                        </a:spcBef>
                        <a:spcAft>
                          <a:spcPts val="0"/>
                        </a:spcAft>
                        <a:defRPr sz="1800" b="1">
                          <a:solidFill>
                            <a:srgbClr val="17212D"/>
                          </a:solidFill>
                          <a:latin typeface="DejaVu Sans"/>
                        </a:defRPr>
                      </a:pPr>
                      <a:r>
                        <a:t>Fit year</a:t>
                      </a:r>
                    </a:p>
                  </a:txBody>
                  <a:tcPr marL="82296" marR="82296" marT="91440" marB="0" anchor="t">
                    <a:lnL w="6350">
                      <a:noFill/>
                    </a:lnL>
                    <a:lnR w="6350">
                      <a:noFill/>
                    </a:lnR>
                    <a:lnT w="6350">
                      <a:noFill/>
                    </a:lnT>
                    <a:lnB w="6350">
                      <a:solidFill>
                        <a:srgbClr val="D9DEE3"/>
                      </a:solidFill>
                    </a:lnB>
                    <a:solidFill>
                      <a:srgbClr val="F2F4F5"/>
                    </a:solidFill>
                  </a:tcPr>
                </a:tc>
                <a:tc>
                  <a:txBody>
                    <a:bodyPr wrap="none"/>
                    <a:lstStyle/>
                    <a:p>
                      <a:pPr algn="r">
                        <a:lnSpc>
                          <a:spcPts val="1980"/>
                        </a:lnSpc>
                        <a:spcBef>
                          <a:spcPts val="0"/>
                        </a:spcBef>
                        <a:spcAft>
                          <a:spcPts val="0"/>
                        </a:spcAft>
                        <a:defRPr sz="1800" b="1">
                          <a:solidFill>
                            <a:srgbClr val="17212D"/>
                          </a:solidFill>
                          <a:latin typeface="DejaVu Sans"/>
                        </a:defRPr>
                      </a:pPr>
                      <a:r>
                        <a:t>Alpha</a:t>
                      </a:r>
                    </a:p>
                  </a:txBody>
                  <a:tcPr marL="82296" marR="82296" marT="91440" marB="0" anchor="t">
                    <a:lnL w="6350">
                      <a:noFill/>
                    </a:lnL>
                    <a:lnR w="6350">
                      <a:noFill/>
                    </a:lnR>
                    <a:lnT w="6350">
                      <a:noFill/>
                    </a:lnT>
                    <a:lnB w="6350">
                      <a:solidFill>
                        <a:srgbClr val="D9DEE3"/>
                      </a:solidFill>
                    </a:lnB>
                    <a:solidFill>
                      <a:srgbClr val="F2F4F5"/>
                    </a:solidFill>
                  </a:tcPr>
                </a:tc>
                <a:tc>
                  <a:txBody>
                    <a:bodyPr wrap="none"/>
                    <a:lstStyle/>
                    <a:p>
                      <a:pPr algn="r">
                        <a:lnSpc>
                          <a:spcPts val="1980"/>
                        </a:lnSpc>
                        <a:spcBef>
                          <a:spcPts val="0"/>
                        </a:spcBef>
                        <a:spcAft>
                          <a:spcPts val="0"/>
                        </a:spcAft>
                        <a:defRPr sz="1800" b="1">
                          <a:solidFill>
                            <a:srgbClr val="17212D"/>
                          </a:solidFill>
                          <a:latin typeface="DejaVu Sans"/>
                        </a:defRPr>
                      </a:pPr>
                      <a:r>
                        <a:t>Nonzero / 8</a:t>
                      </a:r>
                    </a:p>
                  </a:txBody>
                  <a:tcPr marL="82296" marR="82296" marT="91440" marB="0" anchor="t">
                    <a:lnL w="6350">
                      <a:noFill/>
                    </a:lnL>
                    <a:lnR w="6350">
                      <a:noFill/>
                    </a:lnR>
                    <a:lnT w="6350">
                      <a:noFill/>
                    </a:lnT>
                    <a:lnB w="6350">
                      <a:solidFill>
                        <a:srgbClr val="D9DEE3"/>
                      </a:solidFill>
                    </a:lnB>
                    <a:solidFill>
                      <a:srgbClr val="F2F4F5"/>
                    </a:solidFill>
                  </a:tcPr>
                </a:tc>
                <a:tc>
                  <a:txBody>
                    <a:bodyPr wrap="none"/>
                    <a:lstStyle/>
                    <a:p>
                      <a:pPr algn="r">
                        <a:lnSpc>
                          <a:spcPts val="1980"/>
                        </a:lnSpc>
                        <a:spcBef>
                          <a:spcPts val="0"/>
                        </a:spcBef>
                        <a:spcAft>
                          <a:spcPts val="0"/>
                        </a:spcAft>
                        <a:defRPr sz="1800" b="1">
                          <a:solidFill>
                            <a:srgbClr val="17212D"/>
                          </a:solidFill>
                          <a:latin typeface="DejaVu Sans"/>
                        </a:defRPr>
                      </a:pPr>
                      <a:r>
                        <a:t>Validation</a:t>
                      </a:r>
                    </a:p>
                  </a:txBody>
                  <a:tcPr marL="82296" marR="82296" marT="91440" marB="0" anchor="t">
                    <a:lnL w="6350">
                      <a:noFill/>
                    </a:lnL>
                    <a:lnR w="6350">
                      <a:noFill/>
                    </a:lnR>
                    <a:lnT w="6350">
                      <a:noFill/>
                    </a:lnT>
                    <a:lnB w="6350">
                      <a:solidFill>
                        <a:srgbClr val="D9DEE3"/>
                      </a:solidFill>
                    </a:lnB>
                    <a:solidFill>
                      <a:srgbClr val="F2F4F5"/>
                    </a:solidFill>
                  </a:tcPr>
                </a:tc>
              </a:tr>
              <a:tr h="402336">
                <a:tc>
                  <a:txBody>
                    <a:bodyPr wrap="none"/>
                    <a:lstStyle/>
                    <a:p>
                      <a:pPr algn="l">
                        <a:lnSpc>
                          <a:spcPts val="1980"/>
                        </a:lnSpc>
                        <a:spcBef>
                          <a:spcPts val="0"/>
                        </a:spcBef>
                        <a:spcAft>
                          <a:spcPts val="0"/>
                        </a:spcAft>
                        <a:defRPr sz="1800" b="0">
                          <a:solidFill>
                            <a:srgbClr val="17212D"/>
                          </a:solidFill>
                          <a:latin typeface="DejaVu Sans"/>
                        </a:defRPr>
                      </a:pPr>
                      <a:r>
                        <a:t>2021</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0.00114</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0</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2020</a:t>
                      </a:r>
                    </a:p>
                  </a:txBody>
                  <a:tcPr marL="82296" marR="82296" marT="91440" marB="0" anchor="t">
                    <a:lnL w="6350">
                      <a:noFill/>
                    </a:lnL>
                    <a:lnR w="6350">
                      <a:noFill/>
                    </a:lnR>
                    <a:lnT w="6350">
                      <a:noFill/>
                    </a:lnT>
                    <a:lnB w="6350">
                      <a:solidFill>
                        <a:srgbClr val="D9DEE3"/>
                      </a:solidFill>
                    </a:lnB>
                    <a:solidFill>
                      <a:srgbClr val="FFFFFF"/>
                    </a:solidFill>
                  </a:tcPr>
                </a:tc>
              </a:tr>
              <a:tr h="402336">
                <a:tc>
                  <a:txBody>
                    <a:bodyPr wrap="none"/>
                    <a:lstStyle/>
                    <a:p>
                      <a:pPr algn="l">
                        <a:lnSpc>
                          <a:spcPts val="1980"/>
                        </a:lnSpc>
                        <a:spcBef>
                          <a:spcPts val="0"/>
                        </a:spcBef>
                        <a:spcAft>
                          <a:spcPts val="0"/>
                        </a:spcAft>
                        <a:defRPr sz="1800" b="0">
                          <a:solidFill>
                            <a:srgbClr val="17212D"/>
                          </a:solidFill>
                          <a:latin typeface="DejaVu Sans"/>
                        </a:defRPr>
                      </a:pPr>
                      <a:r>
                        <a:t>2022</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0.000261</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7</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2021</a:t>
                      </a:r>
                    </a:p>
                  </a:txBody>
                  <a:tcPr marL="82296" marR="82296" marT="91440" marB="0" anchor="t">
                    <a:lnL w="6350">
                      <a:noFill/>
                    </a:lnL>
                    <a:lnR w="6350">
                      <a:noFill/>
                    </a:lnR>
                    <a:lnT w="6350">
                      <a:noFill/>
                    </a:lnT>
                    <a:lnB w="6350">
                      <a:solidFill>
                        <a:srgbClr val="D9DEE3"/>
                      </a:solidFill>
                    </a:lnB>
                    <a:solidFill>
                      <a:srgbClr val="FFFFFF"/>
                    </a:solidFill>
                  </a:tcPr>
                </a:tc>
              </a:tr>
              <a:tr h="402336">
                <a:tc>
                  <a:txBody>
                    <a:bodyPr wrap="none"/>
                    <a:lstStyle/>
                    <a:p>
                      <a:pPr algn="l">
                        <a:lnSpc>
                          <a:spcPts val="1980"/>
                        </a:lnSpc>
                        <a:spcBef>
                          <a:spcPts val="0"/>
                        </a:spcBef>
                        <a:spcAft>
                          <a:spcPts val="0"/>
                        </a:spcAft>
                        <a:defRPr sz="1800" b="0">
                          <a:solidFill>
                            <a:srgbClr val="17212D"/>
                          </a:solidFill>
                          <a:latin typeface="DejaVu Sans"/>
                        </a:defRPr>
                      </a:pPr>
                      <a:r>
                        <a:t>2023</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1.29e-09</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8</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2022</a:t>
                      </a:r>
                    </a:p>
                  </a:txBody>
                  <a:tcPr marL="82296" marR="82296" marT="91440" marB="0" anchor="t">
                    <a:lnL w="6350">
                      <a:noFill/>
                    </a:lnL>
                    <a:lnR w="6350">
                      <a:noFill/>
                    </a:lnR>
                    <a:lnT w="6350">
                      <a:noFill/>
                    </a:lnT>
                    <a:lnB w="6350">
                      <a:solidFill>
                        <a:srgbClr val="D9DEE3"/>
                      </a:solidFill>
                    </a:lnB>
                    <a:solidFill>
                      <a:srgbClr val="FFFFFF"/>
                    </a:solidFill>
                  </a:tcPr>
                </a:tc>
              </a:tr>
              <a:tr h="402336">
                <a:tc>
                  <a:txBody>
                    <a:bodyPr wrap="none"/>
                    <a:lstStyle/>
                    <a:p>
                      <a:pPr algn="l">
                        <a:lnSpc>
                          <a:spcPts val="1980"/>
                        </a:lnSpc>
                        <a:spcBef>
                          <a:spcPts val="0"/>
                        </a:spcBef>
                        <a:spcAft>
                          <a:spcPts val="0"/>
                        </a:spcAft>
                        <a:defRPr sz="1800" b="0">
                          <a:solidFill>
                            <a:srgbClr val="17212D"/>
                          </a:solidFill>
                          <a:latin typeface="DejaVu Sans"/>
                        </a:defRPr>
                      </a:pPr>
                      <a:r>
                        <a:t>2024</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0.000334</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7</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2023</a:t>
                      </a:r>
                    </a:p>
                  </a:txBody>
                  <a:tcPr marL="82296" marR="82296" marT="91440" marB="0" anchor="t">
                    <a:lnL w="6350">
                      <a:noFill/>
                    </a:lnL>
                    <a:lnR w="6350">
                      <a:noFill/>
                    </a:lnR>
                    <a:lnT w="6350">
                      <a:noFill/>
                    </a:lnT>
                    <a:lnB w="6350">
                      <a:solidFill>
                        <a:srgbClr val="D9DEE3"/>
                      </a:solidFill>
                    </a:lnB>
                    <a:solidFill>
                      <a:srgbClr val="FFFFFF"/>
                    </a:solidFill>
                  </a:tcPr>
                </a:tc>
              </a:tr>
              <a:tr h="402336">
                <a:tc>
                  <a:txBody>
                    <a:bodyPr wrap="none"/>
                    <a:lstStyle/>
                    <a:p>
                      <a:pPr algn="l">
                        <a:lnSpc>
                          <a:spcPts val="1980"/>
                        </a:lnSpc>
                        <a:spcBef>
                          <a:spcPts val="0"/>
                        </a:spcBef>
                        <a:spcAft>
                          <a:spcPts val="0"/>
                        </a:spcAft>
                        <a:defRPr sz="1800" b="0">
                          <a:solidFill>
                            <a:srgbClr val="17212D"/>
                          </a:solidFill>
                          <a:latin typeface="DejaVu Sans"/>
                        </a:defRPr>
                      </a:pPr>
                      <a:r>
                        <a:t>2025</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1.15e-09</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8</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2024</a:t>
                      </a:r>
                    </a:p>
                  </a:txBody>
                  <a:tcPr marL="82296" marR="82296" marT="91440" marB="0" anchor="t">
                    <a:lnL w="6350">
                      <a:noFill/>
                    </a:lnL>
                    <a:lnR w="6350">
                      <a:noFill/>
                    </a:lnR>
                    <a:lnT w="6350">
                      <a:noFill/>
                    </a:lnT>
                    <a:lnB w="6350">
                      <a:solidFill>
                        <a:srgbClr val="D9DEE3"/>
                      </a:solidFill>
                    </a:lnB>
                    <a:solidFill>
                      <a:srgbClr val="FFFFFF"/>
                    </a:solidFill>
                  </a:tcPr>
                </a:tc>
              </a:tr>
              <a:tr h="402336">
                <a:tc>
                  <a:txBody>
                    <a:bodyPr wrap="none"/>
                    <a:lstStyle/>
                    <a:p>
                      <a:pPr algn="l">
                        <a:lnSpc>
                          <a:spcPts val="1980"/>
                        </a:lnSpc>
                        <a:spcBef>
                          <a:spcPts val="0"/>
                        </a:spcBef>
                        <a:spcAft>
                          <a:spcPts val="0"/>
                        </a:spcAft>
                        <a:defRPr sz="1800" b="0">
                          <a:solidFill>
                            <a:srgbClr val="17212D"/>
                          </a:solidFill>
                          <a:latin typeface="DejaVu Sans"/>
                        </a:defRPr>
                      </a:pPr>
                      <a:r>
                        <a:t>2026</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0.000366</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6</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2025</a:t>
                      </a:r>
                    </a:p>
                  </a:txBody>
                  <a:tcPr marL="82296" marR="82296" marT="91440" marB="0" anchor="t">
                    <a:lnL w="6350">
                      <a:noFill/>
                    </a:lnL>
                    <a:lnR w="6350">
                      <a:noFill/>
                    </a:lnR>
                    <a:lnT w="6350">
                      <a:noFill/>
                    </a:lnT>
                    <a:lnB w="6350">
                      <a:solidFill>
                        <a:srgbClr val="D9DEE3"/>
                      </a:solidFill>
                    </a:lnB>
                    <a:solidFill>
                      <a:srgbClr val="FFFFFF"/>
                    </a:solidFill>
                  </a:tcPr>
                </a:tc>
              </a:tr>
            </a:tbl>
          </a:graphicData>
        </a:graphic>
      </p:graphicFrame>
      <p:sp>
        <p:nvSpPr>
          <p:cNvPr id="5" name="TextBox 4"/>
          <p:cNvSpPr txBox="1"/>
          <p:nvPr/>
        </p:nvSpPr>
        <p:spPr>
          <a:xfrm>
            <a:off x="896112" y="4828032"/>
            <a:ext cx="10378440" cy="502920"/>
          </a:xfrm>
          <a:prstGeom prst="rect">
            <a:avLst/>
          </a:prstGeom>
          <a:noFill/>
        </p:spPr>
        <p:txBody>
          <a:bodyPr wrap="none" tIns="0" bIns="0" lIns="0" rIns="0" anchor="t">
            <a:spAutoFit/>
          </a:bodyPr>
          <a:lstStyle/>
          <a:p>
            <a:pPr algn="l">
              <a:lnSpc>
                <a:spcPts val="2464"/>
              </a:lnSpc>
              <a:spcBef>
                <a:spcPts val="0"/>
              </a:spcBef>
              <a:spcAft>
                <a:spcPts val="0"/>
              </a:spcAft>
              <a:defRPr sz="2200" b="1">
                <a:solidFill>
                  <a:srgbClr val="17212D"/>
                </a:solidFill>
                <a:latin typeface="DejaVu Sans"/>
              </a:defRPr>
            </a:pPr>
            <a:r>
              <a:t>Net return: 2021–2025 96.10%; 2026 7.52%.</a:t>
            </a:r>
          </a:p>
        </p:txBody>
      </p:sp>
      <p:sp>
        <p:nvSpPr>
          <p:cNvPr id="6" name="TextBox 5"/>
          <p:cNvSpPr txBox="1"/>
          <p:nvPr/>
        </p:nvSpPr>
        <p:spPr>
          <a:xfrm>
            <a:off x="896112" y="5605272"/>
            <a:ext cx="10378440" cy="594360"/>
          </a:xfrm>
          <a:prstGeom prst="rect">
            <a:avLst/>
          </a:prstGeom>
          <a:noFill/>
        </p:spPr>
        <p:txBody>
          <a:bodyPr wrap="none" tIns="0" bIns="0" lIns="0" rIns="0" anchor="t">
            <a:spAutoFit/>
          </a:bodyPr>
          <a:lstStyle/>
          <a:p>
            <a:pPr algn="l">
              <a:lnSpc>
                <a:spcPts val="2128"/>
              </a:lnSpc>
              <a:spcBef>
                <a:spcPts val="0"/>
              </a:spcBef>
              <a:spcAft>
                <a:spcPts val="0"/>
              </a:spcAft>
              <a:defRPr sz="1900" b="0">
                <a:solidFill>
                  <a:srgbClr val="17212D"/>
                </a:solidFill>
                <a:latin typeface="DejaVu Sans"/>
              </a:defRPr>
            </a:pPr>
            <a:r>
              <a:t>2021 selects cash; weak penalties in 2023/2025 approach unpenalized regression.</a:t>
            </a:r>
          </a:p>
        </p:txBody>
      </p:sp>
      <p:sp>
        <p:nvSpPr>
          <p:cNvPr id="7" name="TextBox 6"/>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Conclusion</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Historical evidence, with clear limits on persistence and implementation</a:t>
            </a:r>
          </a:p>
        </p:txBody>
      </p:sp>
      <p:sp>
        <p:nvSpPr>
          <p:cNvPr id="4" name="TextBox 3"/>
          <p:cNvSpPr txBox="1"/>
          <p:nvPr/>
        </p:nvSpPr>
        <p:spPr>
          <a:xfrm>
            <a:off x="914400" y="1856231"/>
            <a:ext cx="10195560" cy="731520"/>
          </a:xfrm>
          <a:prstGeom prst="rect">
            <a:avLst/>
          </a:prstGeom>
          <a:noFill/>
        </p:spPr>
        <p:txBody>
          <a:bodyPr wrap="none" tIns="0" bIns="0" lIns="0" rIns="0" anchor="t">
            <a:spAutoFit/>
          </a:bodyPr>
          <a:lstStyle/>
          <a:p>
            <a:pPr algn="l">
              <a:lnSpc>
                <a:spcPts val="2576"/>
              </a:lnSpc>
              <a:spcBef>
                <a:spcPts val="0"/>
              </a:spcBef>
              <a:spcAft>
                <a:spcPts val="0"/>
              </a:spcAft>
              <a:defRPr sz="2300" b="1">
                <a:solidFill>
                  <a:srgbClr val="17212D"/>
                </a:solidFill>
                <a:latin typeface="DejaVu Sans"/>
              </a:defRPr>
            </a:pPr>
            <a:r>
              <a:t>1 2021–2025: Ridge net 195.66%, pool 76.60%.</a:t>
            </a:r>
          </a:p>
        </p:txBody>
      </p:sp>
      <p:sp>
        <p:nvSpPr>
          <p:cNvPr id="5" name="TextBox 4"/>
          <p:cNvSpPr txBox="1"/>
          <p:nvPr/>
        </p:nvSpPr>
        <p:spPr>
          <a:xfrm>
            <a:off x="914400" y="3044952"/>
            <a:ext cx="10195560" cy="914400"/>
          </a:xfrm>
          <a:prstGeom prst="rect">
            <a:avLst/>
          </a:prstGeom>
          <a:noFill/>
        </p:spPr>
        <p:txBody>
          <a:bodyPr wrap="none" tIns="0" bIns="0" lIns="0" rIns="0" anchor="t">
            <a:spAutoFit/>
          </a:bodyPr>
          <a:lstStyle/>
          <a:p>
            <a:pPr algn="l">
              <a:lnSpc>
                <a:spcPts val="2576"/>
              </a:lnSpc>
              <a:spcBef>
                <a:spcPts val="0"/>
              </a:spcBef>
              <a:spcAft>
                <a:spcPts val="0"/>
              </a:spcAft>
              <a:defRPr sz="2300" b="0">
                <a:solidFill>
                  <a:srgbClr val="17212D"/>
                </a:solidFill>
                <a:latin typeface="DejaVu Sans"/>
              </a:defRPr>
            </a:pPr>
            <a:r>
              <a:t>2 Lasso trails Ridge: 2021–2025 96.10%; 2026 7.52% net.</a:t>
            </a:r>
          </a:p>
        </p:txBody>
      </p:sp>
      <p:sp>
        <p:nvSpPr>
          <p:cNvPr id="6" name="TextBox 5"/>
          <p:cNvSpPr txBox="1"/>
          <p:nvPr/>
        </p:nvSpPr>
        <p:spPr>
          <a:xfrm>
            <a:off x="914400" y="4370832"/>
            <a:ext cx="10195560" cy="868680"/>
          </a:xfrm>
          <a:prstGeom prst="rect">
            <a:avLst/>
          </a:prstGeom>
          <a:noFill/>
        </p:spPr>
        <p:txBody>
          <a:bodyPr wrap="none" tIns="0" bIns="0" lIns="0" rIns="0" anchor="t">
            <a:spAutoFit/>
          </a:bodyPr>
          <a:lstStyle/>
          <a:p>
            <a:pPr algn="l">
              <a:lnSpc>
                <a:spcPts val="2576"/>
              </a:lnSpc>
              <a:spcBef>
                <a:spcPts val="0"/>
              </a:spcBef>
              <a:spcAft>
                <a:spcPts val="0"/>
              </a:spcAft>
              <a:defRPr sz="2300" b="0">
                <a:solidFill>
                  <a:srgbClr val="17212D"/>
                </a:solidFill>
                <a:latin typeface="DejaVu Sans"/>
              </a:defRPr>
            </a:pPr>
            <a:r>
              <a:t>3 Supplier revisions, event timing and trading assumptions limit the</a:t>
            </a:r>
            <a:br/>
            <a:r>
              <a:t>interpretation.</a:t>
            </a:r>
          </a:p>
        </p:txBody>
      </p:sp>
      <p:sp>
        <p:nvSpPr>
          <p:cNvPr id="7" name="TextBox 6"/>
          <p:cNvSpPr txBox="1"/>
          <p:nvPr/>
        </p:nvSpPr>
        <p:spPr>
          <a:xfrm>
            <a:off x="914400" y="5797296"/>
            <a:ext cx="10195560" cy="411480"/>
          </a:xfrm>
          <a:prstGeom prst="rect">
            <a:avLst/>
          </a:prstGeom>
          <a:noFill/>
        </p:spPr>
        <p:txBody>
          <a:bodyPr wrap="none" tIns="0" bIns="0" lIns="0" rIns="0" anchor="t">
            <a:spAutoFit/>
          </a:bodyPr>
          <a:lstStyle/>
          <a:p>
            <a:pPr algn="l">
              <a:lnSpc>
                <a:spcPts val="2464"/>
              </a:lnSpc>
              <a:spcBef>
                <a:spcPts val="0"/>
              </a:spcBef>
              <a:spcAft>
                <a:spcPts val="0"/>
              </a:spcAft>
              <a:defRPr sz="2200" b="1">
                <a:solidFill>
                  <a:srgbClr val="007C83"/>
                </a:solidFill>
                <a:latin typeface="DejaVu Sans"/>
              </a:defRPr>
            </a:pPr>
            <a:r>
              <a:t>Questions</a:t>
            </a:r>
          </a:p>
        </p:txBody>
      </p:sp>
      <p:sp>
        <p:nvSpPr>
          <p:cNvPr id="8" name="TextBox 7"/>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Appendix A | Factor overlap</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Same-date Spearman correlations of the actual annual model inputs</a:t>
            </a:r>
          </a:p>
        </p:txBody>
      </p:sp>
      <p:pic>
        <p:nvPicPr>
          <p:cNvPr id="4" name="Picture 3" descr="factor_corr_slide.png"/>
          <p:cNvPicPr>
            <a:picLocks noChangeAspect="1"/>
          </p:cNvPicPr>
          <p:nvPr/>
        </p:nvPicPr>
        <p:blipFill>
          <a:blip r:embed="rId2"/>
          <a:stretch>
            <a:fillRect/>
          </a:stretch>
        </p:blipFill>
        <p:spPr>
          <a:xfrm>
            <a:off x="891540" y="1623060"/>
            <a:ext cx="5852160" cy="4572000"/>
          </a:xfrm>
          <a:prstGeom prst="rect">
            <a:avLst/>
          </a:prstGeom>
        </p:spPr>
      </p:pic>
      <p:sp>
        <p:nvSpPr>
          <p:cNvPr id="5" name="TextBox 4"/>
          <p:cNvSpPr txBox="1"/>
          <p:nvPr/>
        </p:nvSpPr>
        <p:spPr>
          <a:xfrm>
            <a:off x="7360920" y="2011680"/>
            <a:ext cx="3840480" cy="274320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12 used inputs</a:t>
            </a:r>
            <a:br/>
            <a:br/>
            <a:r>
              <a:t>2021–2025</a:t>
            </a:r>
            <a:br/>
            <a:br/>
            <a:r>
              <a:t>Every fifth session</a:t>
            </a:r>
            <a:br/>
            <a:br/>
            <a:r>
              <a:t>Historical common pool</a:t>
            </a:r>
          </a:p>
        </p:txBody>
      </p:sp>
      <p:sp>
        <p:nvSpPr>
          <p:cNvPr id="6" name="TextBox 5"/>
          <p:cNvSpPr txBox="1"/>
          <p:nvPr/>
        </p:nvSpPr>
        <p:spPr>
          <a:xfrm>
            <a:off x="7360920" y="5376672"/>
            <a:ext cx="3840480" cy="59436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Correlation describes signal</a:t>
            </a:r>
            <a:br/>
            <a:r>
              <a:t>overlap.</a:t>
            </a:r>
          </a:p>
        </p:txBody>
      </p:sp>
      <p:sp>
        <p:nvSpPr>
          <p:cNvPr id="7" name="TextBox 6"/>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A1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Appendix B | Actual capital weights</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29 Apr 2026 · Net-NAV-normalized holdings, cash and claims</a:t>
            </a:r>
          </a:p>
        </p:txBody>
      </p:sp>
      <p:pic>
        <p:nvPicPr>
          <p:cNvPr id="4" name="Picture 3" descr="cap_weights_slide.png"/>
          <p:cNvPicPr>
            <a:picLocks noChangeAspect="1"/>
          </p:cNvPicPr>
          <p:nvPr/>
        </p:nvPicPr>
        <p:blipFill>
          <a:blip r:embed="rId2"/>
          <a:stretch>
            <a:fillRect/>
          </a:stretch>
        </p:blipFill>
        <p:spPr>
          <a:xfrm>
            <a:off x="2446020" y="1719071"/>
            <a:ext cx="731520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Middle-cap Q3: Ridge 27.0%, pool 19.4%; held capital remains style-exposed.</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A2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Appendix C | Rolling performance</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252-session windows; complete observed history</a:t>
            </a:r>
          </a:p>
        </p:txBody>
      </p:sp>
      <p:sp>
        <p:nvSpPr>
          <p:cNvPr id="4" name="TextBox 3"/>
          <p:cNvSpPr txBox="1"/>
          <p:nvPr/>
        </p:nvSpPr>
        <p:spPr>
          <a:xfrm>
            <a:off x="896112" y="1627632"/>
            <a:ext cx="4800600" cy="274320"/>
          </a:xfrm>
          <a:prstGeom prst="rect">
            <a:avLst/>
          </a:prstGeom>
          <a:noFill/>
        </p:spPr>
        <p:txBody>
          <a:bodyPr wrap="none" tIns="0" bIns="0" lIns="0" rIns="0" anchor="t">
            <a:spAutoFit/>
          </a:bodyPr>
          <a:lstStyle/>
          <a:p>
            <a:pPr algn="l">
              <a:lnSpc>
                <a:spcPts val="1904"/>
              </a:lnSpc>
              <a:spcBef>
                <a:spcPts val="0"/>
              </a:spcBef>
              <a:spcAft>
                <a:spcPts val="0"/>
              </a:spcAft>
              <a:defRPr sz="1700" b="1">
                <a:solidFill>
                  <a:srgbClr val="17212D"/>
                </a:solidFill>
                <a:latin typeface="DejaVu Sans"/>
              </a:defRPr>
            </a:pPr>
            <a:r>
              <a:t>NET EXCESS (pp)</a:t>
            </a:r>
          </a:p>
        </p:txBody>
      </p:sp>
      <p:sp>
        <p:nvSpPr>
          <p:cNvPr id="5" name="TextBox 4"/>
          <p:cNvSpPr txBox="1"/>
          <p:nvPr/>
        </p:nvSpPr>
        <p:spPr>
          <a:xfrm>
            <a:off x="6510528" y="1627632"/>
            <a:ext cx="4800600" cy="274320"/>
          </a:xfrm>
          <a:prstGeom prst="rect">
            <a:avLst/>
          </a:prstGeom>
          <a:noFill/>
        </p:spPr>
        <p:txBody>
          <a:bodyPr wrap="none" tIns="0" bIns="0" lIns="0" rIns="0" anchor="t">
            <a:spAutoFit/>
          </a:bodyPr>
          <a:lstStyle/>
          <a:p>
            <a:pPr algn="l">
              <a:lnSpc>
                <a:spcPts val="1904"/>
              </a:lnSpc>
              <a:spcBef>
                <a:spcPts val="0"/>
              </a:spcBef>
              <a:spcAft>
                <a:spcPts val="0"/>
              </a:spcAft>
              <a:defRPr sz="1700" b="1">
                <a:solidFill>
                  <a:srgbClr val="17212D"/>
                </a:solidFill>
                <a:latin typeface="DejaVu Sans"/>
              </a:defRPr>
            </a:pPr>
            <a:r>
              <a:t>ANNUALIZED VOLATILITY (%)</a:t>
            </a:r>
          </a:p>
        </p:txBody>
      </p:sp>
      <p:pic>
        <p:nvPicPr>
          <p:cNvPr id="6" name="Picture 5" descr="rolling_excess_slide.png"/>
          <p:cNvPicPr>
            <a:picLocks noChangeAspect="1"/>
          </p:cNvPicPr>
          <p:nvPr/>
        </p:nvPicPr>
        <p:blipFill>
          <a:blip r:embed="rId2"/>
          <a:stretch>
            <a:fillRect/>
          </a:stretch>
        </p:blipFill>
        <p:spPr>
          <a:xfrm>
            <a:off x="914399" y="1924812"/>
            <a:ext cx="4754880" cy="3749039"/>
          </a:xfrm>
          <a:prstGeom prst="rect">
            <a:avLst/>
          </a:prstGeom>
        </p:spPr>
      </p:pic>
      <p:pic>
        <p:nvPicPr>
          <p:cNvPr id="7" name="Picture 6" descr="rolling_vol_slide.png"/>
          <p:cNvPicPr>
            <a:picLocks noChangeAspect="1"/>
          </p:cNvPicPr>
          <p:nvPr/>
        </p:nvPicPr>
        <p:blipFill>
          <a:blip r:embed="rId3"/>
          <a:stretch>
            <a:fillRect/>
          </a:stretch>
        </p:blipFill>
        <p:spPr>
          <a:xfrm>
            <a:off x="6519672" y="1924812"/>
            <a:ext cx="4754880" cy="3749039"/>
          </a:xfrm>
          <a:prstGeom prst="rect">
            <a:avLst/>
          </a:prstGeom>
        </p:spPr>
      </p:pic>
      <p:sp>
        <p:nvSpPr>
          <p:cNvPr id="8" name="TextBox 7"/>
          <p:cNvSpPr txBox="1"/>
          <p:nvPr/>
        </p:nvSpPr>
        <p:spPr>
          <a:xfrm>
            <a:off x="896112" y="5989320"/>
            <a:ext cx="10378440" cy="411480"/>
          </a:xfrm>
          <a:prstGeom prst="rect">
            <a:avLst/>
          </a:prstGeom>
          <a:noFill/>
        </p:spPr>
        <p:txBody>
          <a:bodyPr wrap="none" tIns="0" bIns="0" lIns="0" rIns="0" anchor="t">
            <a:spAutoFit/>
          </a:bodyPr>
          <a:lstStyle/>
          <a:p>
            <a:pPr algn="l">
              <a:lnSpc>
                <a:spcPts val="2016"/>
              </a:lnSpc>
              <a:spcBef>
                <a:spcPts val="0"/>
              </a:spcBef>
              <a:spcAft>
                <a:spcPts val="0"/>
              </a:spcAft>
              <a:defRPr sz="1800" b="0">
                <a:solidFill>
                  <a:srgbClr val="68737E"/>
                </a:solidFill>
                <a:latin typeface="DejaVu Sans"/>
              </a:defRPr>
            </a:pPr>
            <a:r>
              <a:t>Rolling observations overlap; initial incomplete windows stay missing.</a:t>
            </a:r>
          </a:p>
        </p:txBody>
      </p:sp>
      <p:sp>
        <p:nvSpPr>
          <p:cNvPr id="9" name="TextBox 8"/>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A3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Investment Group 9 | A-share stock selection</dc:title>
  <dc:subject>Fixed strategy and complete historical evidence</dc:subject>
  <dc:creator>Group 9</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