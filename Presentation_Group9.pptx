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40 seconds. State the investment question and four methods. Distinguish compounded net returns from the sum of daily matched-benchmark excess. Read the partial-year result without annualizing it; do not imply that every method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70 seconds. Explain profitability and cash generation, signed valuation and leverage, and price/trading mechanisms. F4 and T4 stay in the saved sixteen-column input axis but are unused. Negative equity and earnings are preserved. Annual factor choices and directions are published in the configuration; this reproduction runs no new search.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Describe the prepared market and financial inputs, historical membership, non-ST and listing-age guards, trading status, and the common fourteen-candidate finite mask. The full calendar starts before the first feasible signal. Financial timing screens all three date fields; it cannot independently exclude later supplier revisions. No future label availability enters the pool.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80 seconds. Walk through ranks, annual fits, score residualization, and EMA. Ridge uses alpha 10000 and the tree uses 56 shallow boosting rounds. Training follows the absolute every-fifth-session grid and requires the t+21 exit strictly before prediction start. The 2018–2020 section is fitted replay, while annual forecasts from 2021 use mature prior labels. Scores and returns are not the same object: returns are never smoothed.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75 seconds. Explain the difference between a daily signal and a twenty-session target. Gross and net holdings and cash evolve separately. The equal-weight benchmark uses the same opportunity set, cadence, constraints and matched costs. Explain exchange and cash-exit claims, cash becoming investable only after payment, and the zero-recovery listing-end assumption for unresolved positions. Some cash dates use the documented fifth-session convention. CSI500 is a secondary reference.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95 seconds. Compare all four methods and the equal-weight benchmark in both full-history panels, including weaker methods. Absolute returns compound daily portfolio returns; the curves are not rebased at year boundaries. Explain the initial flat portion before feasible trading, the fitted early history, and the cost effect without describing the gross-minus-net wealth gap as a sum of fees.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85 seconds. Show every method against its corresponding fee-matched benchmark. Excess is the arithmetic sum of daily return differences in percentage points. It is neither compounded relative wealth nor the difference between two compounded returns. A method can underperform in part of the history even if the final sum is positive. Do not omit unfavorable curves.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85 seconds. Use the complete net-wealth drawdowns and return-risk scatter together. Compare all methods. Ridge's historical maximum drawdown is slightly deeper than the matched benchmark, so the higher return must not be presented as lower risk. Explain annualization, zero risk-free-rate Sharpe conventions, and why a single endpoint cannot summarize the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85 seconds. Read the red and teal monthly cells and connect their sum to daily net excess. Gray or dashed future months are unobserved, not zero-return months. Annual returns compound, unlike the monthly excess sums. The latest year ends on 29 April and must not be compared to a full year as if lengths were identical.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Read the chart's stated rolling window rather than treating rolling observations as independent tests. Discuss weak relative-return intervals as well as strong ones, and compare the changing volatility. Warm-up windows are missing rather than filled. Rolling diagnostics do not create a new strategy or a new parameter choice.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80 seconds. Define turnover as half of traded notional divided by opening wealth. Separate commission, slippage and stamp tax. Cost bars sum cost divided by each day's opening NAV, in percentage points; they are not a compounded wealth drag. Twenty-session targets do not eliminate retries, cash settlement or forced-event trading. Gross and net books can have different future holdings because costs constrain cash, so the compounded performance difference is not a pure fee sum. Daily doubled-slippage is a daily control, not a twenty-session stress.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80 seconds. The matrix covers the union of twelve actual annual model inputs, averaging same-date Spearman correlations on the common pool every fifth session in 2021–2025. Annual model Rank IC uses only observable, mature twenty-session labels; an early fitted-replay IC is not independent evidence. Development diagnostic exits do not extend beyond 2025. Average ties are preserved. Explain why correlation, prediction IC, top-ranked cohort performance and actual fee-paying portfolio returns answer different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70 seconds. Quintiles are formed from currently finite scores before looking at label availability; a fixed security slot breaks score ties. Within each original group, average only finite labels whose t+21 exit is observed. The 2021–2025 panel also requires exit no later than 2025-12-31, while 2026 requires exit no later than 2026-04-29. Report equal-date means of raw twenty-session return and same-pool label excess. Labels overlap, cohorts are not independent, and no trading costs are charged in this diagnostic. The 2026 panel has a shorter mature-label window, so retain coverage and date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The upper control panel compares raw-signal and adopted twenty-session net returns for all four methods in 2021–2025. The lower control panel compares 2026 Ridge daily, every-twenty-session and daily doubled-slippage cumulative daily net excess. The doubled-slippage control remains daily and must not be called a twenty-session cost stress. The right-hand table keeps all four final methods and the matched benchmark visible. No new strategy is selected from these displays.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40 seconds. Conclude with both the historical return advantage and the modest latest-year excess. Neutralized scores need not produce market-cap-neutral held capital. The final capital chart uses actual net-NAV-normalized holdings, cash and claims, not idealized target weights; discuss the visible middle-cap overweight. Retain the supplier-revision caveat, synthetic-dividend approximation, corporate-event timing assumptions, board-lot/minimum-fee omissions and market impact. The early history is fitted replay and repeated development comparisons can overfit. Invite questions and let all group members explain their assigned part.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A-share cross-sectional stock selection</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Four fixed methods | Top 100 | 20-session targets | 2 Jan 2018 – 29 Apr 2026</a:t>
            </a:r>
          </a:p>
        </p:txBody>
      </p:sp>
      <p:sp>
        <p:nvSpPr>
          <p:cNvPr id="5" name="Rounded Rectangle 4"/>
          <p:cNvSpPr/>
          <p:nvPr/>
        </p:nvSpPr>
        <p:spPr>
          <a:xfrm>
            <a:off x="502920" y="1755648"/>
            <a:ext cx="3566160" cy="1033271"/>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874519"/>
            <a:ext cx="3236976" cy="228600"/>
          </a:xfrm>
          <a:prstGeom prst="rect">
            <a:avLst/>
          </a:prstGeom>
          <a:noFill/>
        </p:spPr>
        <p:txBody>
          <a:bodyPr wrap="none" tIns="0" bIns="0" lIns="0" rIns="0" anchor="t">
            <a:spAutoFit/>
          </a:bodyPr>
          <a:lstStyle/>
          <a:p>
            <a:pPr algn="l">
              <a:lnSpc>
                <a:spcPts val="1456"/>
              </a:lnSpc>
              <a:spcBef>
                <a:spcPts val="0"/>
              </a:spcBef>
              <a:spcAft>
                <a:spcPts val="0"/>
              </a:spcAft>
              <a:defRPr sz="1300" b="1">
                <a:solidFill>
                  <a:srgbClr val="657489"/>
                </a:solidFill>
                <a:latin typeface="DejaVu Sans"/>
              </a:defRPr>
            </a:pPr>
            <a:r>
              <a:t>2021–2025 RIDGE NET</a:t>
            </a:r>
          </a:p>
        </p:txBody>
      </p:sp>
      <p:sp>
        <p:nvSpPr>
          <p:cNvPr id="7" name="TextBox 6"/>
          <p:cNvSpPr txBox="1"/>
          <p:nvPr/>
        </p:nvSpPr>
        <p:spPr>
          <a:xfrm>
            <a:off x="667512" y="2148840"/>
            <a:ext cx="3236976" cy="393192"/>
          </a:xfrm>
          <a:prstGeom prst="rect">
            <a:avLst/>
          </a:prstGeom>
          <a:noFill/>
        </p:spPr>
        <p:txBody>
          <a:bodyPr wrap="none" tIns="0" bIns="0" lIns="0" rIns="0" anchor="t">
            <a:spAutoFit/>
          </a:bodyPr>
          <a:lstStyle/>
          <a:p>
            <a:pPr algn="l">
              <a:lnSpc>
                <a:spcPts val="3248"/>
              </a:lnSpc>
              <a:spcBef>
                <a:spcPts val="0"/>
              </a:spcBef>
              <a:spcAft>
                <a:spcPts val="0"/>
              </a:spcAft>
              <a:defRPr sz="2900" b="1">
                <a:solidFill>
                  <a:srgbClr val="137F82"/>
                </a:solidFill>
                <a:latin typeface="DejaVu Sans"/>
              </a:defRPr>
            </a:pPr>
            <a:r>
              <a:t>195.66%</a:t>
            </a:r>
          </a:p>
        </p:txBody>
      </p:sp>
      <p:sp>
        <p:nvSpPr>
          <p:cNvPr id="8" name="Rounded Rectangle 7"/>
          <p:cNvSpPr/>
          <p:nvPr/>
        </p:nvSpPr>
        <p:spPr>
          <a:xfrm>
            <a:off x="4315968" y="1755648"/>
            <a:ext cx="3566160" cy="1033271"/>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59" y="1874519"/>
            <a:ext cx="3236976" cy="228600"/>
          </a:xfrm>
          <a:prstGeom prst="rect">
            <a:avLst/>
          </a:prstGeom>
          <a:noFill/>
        </p:spPr>
        <p:txBody>
          <a:bodyPr wrap="none" tIns="0" bIns="0" lIns="0" rIns="0" anchor="t">
            <a:spAutoFit/>
          </a:bodyPr>
          <a:lstStyle/>
          <a:p>
            <a:pPr algn="l">
              <a:lnSpc>
                <a:spcPts val="1456"/>
              </a:lnSpc>
              <a:spcBef>
                <a:spcPts val="0"/>
              </a:spcBef>
              <a:spcAft>
                <a:spcPts val="0"/>
              </a:spcAft>
              <a:defRPr sz="1300" b="1">
                <a:solidFill>
                  <a:srgbClr val="657489"/>
                </a:solidFill>
                <a:latin typeface="DejaVu Sans"/>
              </a:defRPr>
            </a:pPr>
            <a:r>
              <a:t>2026 RIDGE NET</a:t>
            </a:r>
          </a:p>
        </p:txBody>
      </p:sp>
      <p:sp>
        <p:nvSpPr>
          <p:cNvPr id="10" name="TextBox 9"/>
          <p:cNvSpPr txBox="1"/>
          <p:nvPr/>
        </p:nvSpPr>
        <p:spPr>
          <a:xfrm>
            <a:off x="4480559" y="2148840"/>
            <a:ext cx="3236976" cy="393192"/>
          </a:xfrm>
          <a:prstGeom prst="rect">
            <a:avLst/>
          </a:prstGeom>
          <a:noFill/>
        </p:spPr>
        <p:txBody>
          <a:bodyPr wrap="none" tIns="0" bIns="0" lIns="0" rIns="0" anchor="t">
            <a:spAutoFit/>
          </a:bodyPr>
          <a:lstStyle/>
          <a:p>
            <a:pPr algn="l">
              <a:lnSpc>
                <a:spcPts val="3248"/>
              </a:lnSpc>
              <a:spcBef>
                <a:spcPts val="0"/>
              </a:spcBef>
              <a:spcAft>
                <a:spcPts val="0"/>
              </a:spcAft>
              <a:defRPr sz="2900" b="1">
                <a:solidFill>
                  <a:srgbClr val="137F82"/>
                </a:solidFill>
                <a:latin typeface="DejaVu Sans"/>
              </a:defRPr>
            </a:pPr>
            <a:r>
              <a:t>8.80%</a:t>
            </a:r>
          </a:p>
        </p:txBody>
      </p:sp>
      <p:sp>
        <p:nvSpPr>
          <p:cNvPr id="11" name="Rounded Rectangle 10"/>
          <p:cNvSpPr/>
          <p:nvPr/>
        </p:nvSpPr>
        <p:spPr>
          <a:xfrm>
            <a:off x="8129016" y="1755648"/>
            <a:ext cx="3566160" cy="1033271"/>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93608" y="1874519"/>
            <a:ext cx="3236976" cy="228600"/>
          </a:xfrm>
          <a:prstGeom prst="rect">
            <a:avLst/>
          </a:prstGeom>
          <a:noFill/>
        </p:spPr>
        <p:txBody>
          <a:bodyPr wrap="none" tIns="0" bIns="0" lIns="0" rIns="0" anchor="t">
            <a:spAutoFit/>
          </a:bodyPr>
          <a:lstStyle/>
          <a:p>
            <a:pPr algn="l">
              <a:lnSpc>
                <a:spcPts val="1456"/>
              </a:lnSpc>
              <a:spcBef>
                <a:spcPts val="0"/>
              </a:spcBef>
              <a:spcAft>
                <a:spcPts val="0"/>
              </a:spcAft>
              <a:defRPr sz="1300" b="1">
                <a:solidFill>
                  <a:srgbClr val="657489"/>
                </a:solidFill>
                <a:latin typeface="DejaVu Sans"/>
              </a:defRPr>
            </a:pPr>
            <a:r>
              <a:t>2026 RIDGE NET EXCESS</a:t>
            </a:r>
          </a:p>
        </p:txBody>
      </p:sp>
      <p:sp>
        <p:nvSpPr>
          <p:cNvPr id="13" name="TextBox 12"/>
          <p:cNvSpPr txBox="1"/>
          <p:nvPr/>
        </p:nvSpPr>
        <p:spPr>
          <a:xfrm>
            <a:off x="8293608" y="2148840"/>
            <a:ext cx="3236976" cy="393192"/>
          </a:xfrm>
          <a:prstGeom prst="rect">
            <a:avLst/>
          </a:prstGeom>
          <a:noFill/>
        </p:spPr>
        <p:txBody>
          <a:bodyPr wrap="none" tIns="0" bIns="0" lIns="0" rIns="0" anchor="t">
            <a:spAutoFit/>
          </a:bodyPr>
          <a:lstStyle/>
          <a:p>
            <a:pPr algn="l">
              <a:lnSpc>
                <a:spcPts val="3248"/>
              </a:lnSpc>
              <a:spcBef>
                <a:spcPts val="0"/>
              </a:spcBef>
              <a:spcAft>
                <a:spcPts val="0"/>
              </a:spcAft>
              <a:defRPr sz="2900" b="1">
                <a:solidFill>
                  <a:srgbClr val="137F82"/>
                </a:solidFill>
                <a:latin typeface="DejaVu Sans"/>
              </a:defRPr>
            </a:pPr>
            <a:r>
              <a:t>+0.56 pp</a:t>
            </a:r>
          </a:p>
        </p:txBody>
      </p:sp>
      <p:graphicFrame>
        <p:nvGraphicFramePr>
          <p:cNvPr id="14" name="Table 13"/>
          <p:cNvGraphicFramePr>
            <a:graphicFrameLocks noGrp="1"/>
          </p:cNvGraphicFramePr>
          <p:nvPr/>
        </p:nvGraphicFramePr>
        <p:xfrm>
          <a:off x="502920" y="3108960"/>
          <a:ext cx="11109960" cy="2468880"/>
        </p:xfrm>
        <a:graphic>
          <a:graphicData uri="http://schemas.openxmlformats.org/drawingml/2006/table">
            <a:tbl>
              <a:tblPr firstRow="1" bandRow="1">
                <a:tableStyleId>{5C22544A-7EE6-4342-B048-85BDC9FD1C3A}</a:tableStyleId>
              </a:tblPr>
              <a:tblGrid>
                <a:gridCol w="2926080"/>
                <a:gridCol w="2880360"/>
                <a:gridCol w="2560320"/>
                <a:gridCol w="2743200"/>
              </a:tblGrid>
              <a:tr h="411480">
                <a:tc>
                  <a:txBody>
                    <a:bodyPr wrap="none"/>
                    <a:lstStyle/>
                    <a:p>
                      <a:pPr>
                        <a:lnSpc>
                          <a:spcPts val="1870"/>
                        </a:lnSpc>
                        <a:spcBef>
                          <a:spcPts val="0"/>
                        </a:spcBef>
                        <a:spcAft>
                          <a:spcPts val="0"/>
                        </a:spcAft>
                        <a:defRPr sz="1700" b="1">
                          <a:solidFill>
                            <a:srgbClr val="162B42"/>
                          </a:solidFill>
                          <a:latin typeface="DejaVu Sans"/>
                        </a:defRPr>
                      </a:pPr>
                      <a:r>
                        <a:t>Method</a:t>
                      </a:r>
                    </a:p>
                  </a:txBody>
                  <a:tcPr marL="73152" marR="73152" marT="50292" marB="0" anchor="t">
                    <a:solidFill>
                      <a:srgbClr val="E3EFF0"/>
                    </a:solidFill>
                  </a:tcPr>
                </a:tc>
                <a:tc>
                  <a:txBody>
                    <a:bodyPr wrap="none"/>
                    <a:lstStyle/>
                    <a:p>
                      <a:pPr>
                        <a:lnSpc>
                          <a:spcPts val="1870"/>
                        </a:lnSpc>
                        <a:spcBef>
                          <a:spcPts val="0"/>
                        </a:spcBef>
                        <a:spcAft>
                          <a:spcPts val="0"/>
                        </a:spcAft>
                        <a:defRPr sz="1700" b="1">
                          <a:solidFill>
                            <a:srgbClr val="162B42"/>
                          </a:solidFill>
                          <a:latin typeface="DejaVu Sans"/>
                        </a:defRPr>
                      </a:pPr>
                      <a:r>
                        <a:t>2021–2025 net</a:t>
                      </a:r>
                    </a:p>
                  </a:txBody>
                  <a:tcPr marL="73152" marR="73152" marT="50292" marB="0" anchor="t">
                    <a:solidFill>
                      <a:srgbClr val="E3EFF0"/>
                    </a:solidFill>
                  </a:tcPr>
                </a:tc>
                <a:tc>
                  <a:txBody>
                    <a:bodyPr wrap="none"/>
                    <a:lstStyle/>
                    <a:p>
                      <a:pPr>
                        <a:lnSpc>
                          <a:spcPts val="1870"/>
                        </a:lnSpc>
                        <a:spcBef>
                          <a:spcPts val="0"/>
                        </a:spcBef>
                        <a:spcAft>
                          <a:spcPts val="0"/>
                        </a:spcAft>
                        <a:defRPr sz="1700" b="1">
                          <a:solidFill>
                            <a:srgbClr val="162B42"/>
                          </a:solidFill>
                          <a:latin typeface="DejaVu Sans"/>
                        </a:defRPr>
                      </a:pPr>
                      <a:r>
                        <a:t>2026 net</a:t>
                      </a:r>
                    </a:p>
                  </a:txBody>
                  <a:tcPr marL="73152" marR="73152" marT="50292" marB="0" anchor="t">
                    <a:solidFill>
                      <a:srgbClr val="E3EFF0"/>
                    </a:solidFill>
                  </a:tcPr>
                </a:tc>
                <a:tc>
                  <a:txBody>
                    <a:bodyPr wrap="none"/>
                    <a:lstStyle/>
                    <a:p>
                      <a:pPr>
                        <a:lnSpc>
                          <a:spcPts val="1870"/>
                        </a:lnSpc>
                        <a:spcBef>
                          <a:spcPts val="0"/>
                        </a:spcBef>
                        <a:spcAft>
                          <a:spcPts val="0"/>
                        </a:spcAft>
                        <a:defRPr sz="1700" b="1">
                          <a:solidFill>
                            <a:srgbClr val="162B42"/>
                          </a:solidFill>
                          <a:latin typeface="DejaVu Sans"/>
                        </a:defRPr>
                      </a:pPr>
                      <a:r>
                        <a:t>2026 excess (pp)</a:t>
                      </a:r>
                    </a:p>
                  </a:txBody>
                  <a:tcPr marL="73152" marR="73152" marT="50292" marB="0" anchor="t">
                    <a:solidFill>
                      <a:srgbClr val="E3EFF0"/>
                    </a:solidFill>
                  </a:tcPr>
                </a:tc>
              </a:tr>
              <a:tr h="411480">
                <a:tc>
                  <a:txBody>
                    <a:bodyPr wrap="none"/>
                    <a:lstStyle/>
                    <a:p>
                      <a:pPr>
                        <a:lnSpc>
                          <a:spcPts val="1870"/>
                        </a:lnSpc>
                        <a:spcBef>
                          <a:spcPts val="0"/>
                        </a:spcBef>
                        <a:spcAft>
                          <a:spcPts val="0"/>
                        </a:spcAft>
                        <a:defRPr sz="1700" b="0">
                          <a:solidFill>
                            <a:srgbClr val="162B42"/>
                          </a:solidFill>
                          <a:latin typeface="DejaVu Sans"/>
                        </a:defRPr>
                      </a:pPr>
                      <a:r>
                        <a:t>Fundamental</a:t>
                      </a:r>
                    </a:p>
                  </a:txBody>
                  <a:tcPr marL="73152" marR="73152" marT="50292" marB="0" anchor="t">
                    <a:solidFill>
                      <a:srgbClr val="FFFFFF"/>
                    </a:solidFill>
                  </a:tcPr>
                </a:tc>
                <a:tc>
                  <a:txBody>
                    <a:bodyPr wrap="none"/>
                    <a:lstStyle/>
                    <a:p>
                      <a:pPr>
                        <a:lnSpc>
                          <a:spcPts val="1870"/>
                        </a:lnSpc>
                        <a:spcBef>
                          <a:spcPts val="0"/>
                        </a:spcBef>
                        <a:spcAft>
                          <a:spcPts val="0"/>
                        </a:spcAft>
                        <a:defRPr sz="1700" b="0">
                          <a:solidFill>
                            <a:srgbClr val="162B42"/>
                          </a:solidFill>
                          <a:latin typeface="DejaVu Sans"/>
                        </a:defRPr>
                      </a:pPr>
                      <a:r>
                        <a:t>139.90%</a:t>
                      </a:r>
                    </a:p>
                  </a:txBody>
                  <a:tcPr marL="73152" marR="73152" marT="50292" marB="0" anchor="t">
                    <a:solidFill>
                      <a:srgbClr val="FFFFFF"/>
                    </a:solidFill>
                  </a:tcPr>
                </a:tc>
                <a:tc>
                  <a:txBody>
                    <a:bodyPr wrap="none"/>
                    <a:lstStyle/>
                    <a:p>
                      <a:pPr>
                        <a:lnSpc>
                          <a:spcPts val="1870"/>
                        </a:lnSpc>
                        <a:spcBef>
                          <a:spcPts val="0"/>
                        </a:spcBef>
                        <a:spcAft>
                          <a:spcPts val="0"/>
                        </a:spcAft>
                        <a:defRPr sz="1700" b="0">
                          <a:solidFill>
                            <a:srgbClr val="162B42"/>
                          </a:solidFill>
                          <a:latin typeface="DejaVu Sans"/>
                        </a:defRPr>
                      </a:pPr>
                      <a:r>
                        <a:t>3.53%</a:t>
                      </a:r>
                    </a:p>
                  </a:txBody>
                  <a:tcPr marL="73152" marR="73152" marT="50292" marB="0" anchor="t">
                    <a:solidFill>
                      <a:srgbClr val="FFFFFF"/>
                    </a:solidFill>
                  </a:tcPr>
                </a:tc>
                <a:tc>
                  <a:txBody>
                    <a:bodyPr wrap="none"/>
                    <a:lstStyle/>
                    <a:p>
                      <a:pPr>
                        <a:lnSpc>
                          <a:spcPts val="1870"/>
                        </a:lnSpc>
                        <a:spcBef>
                          <a:spcPts val="0"/>
                        </a:spcBef>
                        <a:spcAft>
                          <a:spcPts val="0"/>
                        </a:spcAft>
                        <a:defRPr sz="1700" b="0">
                          <a:solidFill>
                            <a:srgbClr val="162B42"/>
                          </a:solidFill>
                          <a:latin typeface="DejaVu Sans"/>
                        </a:defRPr>
                      </a:pPr>
                      <a:r>
                        <a:t>-4.25</a:t>
                      </a:r>
                    </a:p>
                  </a:txBody>
                  <a:tcPr marL="73152" marR="73152" marT="50292" marB="0" anchor="t">
                    <a:solidFill>
                      <a:srgbClr val="FFFFFF"/>
                    </a:solidFill>
                  </a:tcPr>
                </a:tc>
              </a:tr>
              <a:tr h="411480">
                <a:tc>
                  <a:txBody>
                    <a:bodyPr wrap="none"/>
                    <a:lstStyle/>
                    <a:p>
                      <a:pPr>
                        <a:lnSpc>
                          <a:spcPts val="1870"/>
                        </a:lnSpc>
                        <a:spcBef>
                          <a:spcPts val="0"/>
                        </a:spcBef>
                        <a:spcAft>
                          <a:spcPts val="0"/>
                        </a:spcAft>
                        <a:defRPr sz="1700" b="0">
                          <a:solidFill>
                            <a:srgbClr val="162B42"/>
                          </a:solidFill>
                          <a:latin typeface="DejaVu Sans"/>
                        </a:defRPr>
                      </a:pPr>
                      <a:r>
                        <a:t>Combined</a:t>
                      </a:r>
                    </a:p>
                  </a:txBody>
                  <a:tcPr marL="73152" marR="73152" marT="50292" marB="0" anchor="t">
                    <a:solidFill>
                      <a:srgbClr val="FFFFFF"/>
                    </a:solidFill>
                  </a:tcPr>
                </a:tc>
                <a:tc>
                  <a:txBody>
                    <a:bodyPr wrap="none"/>
                    <a:lstStyle/>
                    <a:p>
                      <a:pPr>
                        <a:lnSpc>
                          <a:spcPts val="1870"/>
                        </a:lnSpc>
                        <a:spcBef>
                          <a:spcPts val="0"/>
                        </a:spcBef>
                        <a:spcAft>
                          <a:spcPts val="0"/>
                        </a:spcAft>
                        <a:defRPr sz="1700" b="0">
                          <a:solidFill>
                            <a:srgbClr val="162B42"/>
                          </a:solidFill>
                          <a:latin typeface="DejaVu Sans"/>
                        </a:defRPr>
                      </a:pPr>
                      <a:r>
                        <a:t>145.46%</a:t>
                      </a:r>
                    </a:p>
                  </a:txBody>
                  <a:tcPr marL="73152" marR="73152" marT="50292" marB="0" anchor="t">
                    <a:solidFill>
                      <a:srgbClr val="FFFFFF"/>
                    </a:solidFill>
                  </a:tcPr>
                </a:tc>
                <a:tc>
                  <a:txBody>
                    <a:bodyPr wrap="none"/>
                    <a:lstStyle/>
                    <a:p>
                      <a:pPr>
                        <a:lnSpc>
                          <a:spcPts val="1870"/>
                        </a:lnSpc>
                        <a:spcBef>
                          <a:spcPts val="0"/>
                        </a:spcBef>
                        <a:spcAft>
                          <a:spcPts val="0"/>
                        </a:spcAft>
                        <a:defRPr sz="1700" b="0">
                          <a:solidFill>
                            <a:srgbClr val="162B42"/>
                          </a:solidFill>
                          <a:latin typeface="DejaVu Sans"/>
                        </a:defRPr>
                      </a:pPr>
                      <a:r>
                        <a:t>9.73%</a:t>
                      </a:r>
                    </a:p>
                  </a:txBody>
                  <a:tcPr marL="73152" marR="73152" marT="50292" marB="0" anchor="t">
                    <a:solidFill>
                      <a:srgbClr val="FFFFFF"/>
                    </a:solidFill>
                  </a:tcPr>
                </a:tc>
                <a:tc>
                  <a:txBody>
                    <a:bodyPr wrap="none"/>
                    <a:lstStyle/>
                    <a:p>
                      <a:pPr>
                        <a:lnSpc>
                          <a:spcPts val="1870"/>
                        </a:lnSpc>
                        <a:spcBef>
                          <a:spcPts val="0"/>
                        </a:spcBef>
                        <a:spcAft>
                          <a:spcPts val="0"/>
                        </a:spcAft>
                        <a:defRPr sz="1700" b="0">
                          <a:solidFill>
                            <a:srgbClr val="162B42"/>
                          </a:solidFill>
                          <a:latin typeface="DejaVu Sans"/>
                        </a:defRPr>
                      </a:pPr>
                      <a:r>
                        <a:t>+1.33</a:t>
                      </a:r>
                    </a:p>
                  </a:txBody>
                  <a:tcPr marL="73152" marR="73152" marT="50292" marB="0" anchor="t">
                    <a:solidFill>
                      <a:srgbClr val="FFFFFF"/>
                    </a:solidFill>
                  </a:tcPr>
                </a:tc>
              </a:tr>
              <a:tr h="411480">
                <a:tc>
                  <a:txBody>
                    <a:bodyPr wrap="none"/>
                    <a:lstStyle/>
                    <a:p>
                      <a:pPr>
                        <a:lnSpc>
                          <a:spcPts val="1870"/>
                        </a:lnSpc>
                        <a:spcBef>
                          <a:spcPts val="0"/>
                        </a:spcBef>
                        <a:spcAft>
                          <a:spcPts val="0"/>
                        </a:spcAft>
                        <a:defRPr sz="1700" b="0">
                          <a:solidFill>
                            <a:srgbClr val="162B42"/>
                          </a:solidFill>
                          <a:latin typeface="DejaVu Sans"/>
                        </a:defRPr>
                      </a:pPr>
                      <a:r>
                        <a:t>Ridge</a:t>
                      </a:r>
                    </a:p>
                  </a:txBody>
                  <a:tcPr marL="73152" marR="73152" marT="50292" marB="0" anchor="t">
                    <a:solidFill>
                      <a:srgbClr val="EAF3F3"/>
                    </a:solidFill>
                  </a:tcPr>
                </a:tc>
                <a:tc>
                  <a:txBody>
                    <a:bodyPr wrap="none"/>
                    <a:lstStyle/>
                    <a:p>
                      <a:pPr>
                        <a:lnSpc>
                          <a:spcPts val="1870"/>
                        </a:lnSpc>
                        <a:spcBef>
                          <a:spcPts val="0"/>
                        </a:spcBef>
                        <a:spcAft>
                          <a:spcPts val="0"/>
                        </a:spcAft>
                        <a:defRPr sz="1700" b="0">
                          <a:solidFill>
                            <a:srgbClr val="162B42"/>
                          </a:solidFill>
                          <a:latin typeface="DejaVu Sans"/>
                        </a:defRPr>
                      </a:pPr>
                      <a:r>
                        <a:t>195.66%</a:t>
                      </a:r>
                    </a:p>
                  </a:txBody>
                  <a:tcPr marL="73152" marR="73152" marT="50292" marB="0" anchor="t">
                    <a:solidFill>
                      <a:srgbClr val="EAF3F3"/>
                    </a:solidFill>
                  </a:tcPr>
                </a:tc>
                <a:tc>
                  <a:txBody>
                    <a:bodyPr wrap="none"/>
                    <a:lstStyle/>
                    <a:p>
                      <a:pPr>
                        <a:lnSpc>
                          <a:spcPts val="1870"/>
                        </a:lnSpc>
                        <a:spcBef>
                          <a:spcPts val="0"/>
                        </a:spcBef>
                        <a:spcAft>
                          <a:spcPts val="0"/>
                        </a:spcAft>
                        <a:defRPr sz="1700" b="0">
                          <a:solidFill>
                            <a:srgbClr val="162B42"/>
                          </a:solidFill>
                          <a:latin typeface="DejaVu Sans"/>
                        </a:defRPr>
                      </a:pPr>
                      <a:r>
                        <a:t>8.80%</a:t>
                      </a:r>
                    </a:p>
                  </a:txBody>
                  <a:tcPr marL="73152" marR="73152" marT="50292" marB="0" anchor="t">
                    <a:solidFill>
                      <a:srgbClr val="EAF3F3"/>
                    </a:solidFill>
                  </a:tcPr>
                </a:tc>
                <a:tc>
                  <a:txBody>
                    <a:bodyPr wrap="none"/>
                    <a:lstStyle/>
                    <a:p>
                      <a:pPr>
                        <a:lnSpc>
                          <a:spcPts val="1870"/>
                        </a:lnSpc>
                        <a:spcBef>
                          <a:spcPts val="0"/>
                        </a:spcBef>
                        <a:spcAft>
                          <a:spcPts val="0"/>
                        </a:spcAft>
                        <a:defRPr sz="1700" b="0">
                          <a:solidFill>
                            <a:srgbClr val="162B42"/>
                          </a:solidFill>
                          <a:latin typeface="DejaVu Sans"/>
                        </a:defRPr>
                      </a:pPr>
                      <a:r>
                        <a:t>+0.56</a:t>
                      </a:r>
                    </a:p>
                  </a:txBody>
                  <a:tcPr marL="73152" marR="73152" marT="50292" marB="0" anchor="t">
                    <a:solidFill>
                      <a:srgbClr val="EAF3F3"/>
                    </a:solidFill>
                  </a:tcPr>
                </a:tc>
              </a:tr>
              <a:tr h="411480">
                <a:tc>
                  <a:txBody>
                    <a:bodyPr wrap="none"/>
                    <a:lstStyle/>
                    <a:p>
                      <a:pPr>
                        <a:lnSpc>
                          <a:spcPts val="1870"/>
                        </a:lnSpc>
                        <a:spcBef>
                          <a:spcPts val="0"/>
                        </a:spcBef>
                        <a:spcAft>
                          <a:spcPts val="0"/>
                        </a:spcAft>
                        <a:defRPr sz="1700" b="0">
                          <a:solidFill>
                            <a:srgbClr val="162B42"/>
                          </a:solidFill>
                          <a:latin typeface="DejaVu Sans"/>
                        </a:defRPr>
                      </a:pPr>
                      <a:r>
                        <a:t>LightGBM</a:t>
                      </a:r>
                    </a:p>
                  </a:txBody>
                  <a:tcPr marL="73152" marR="73152" marT="50292" marB="0" anchor="t">
                    <a:solidFill>
                      <a:srgbClr val="FFFFFF"/>
                    </a:solidFill>
                  </a:tcPr>
                </a:tc>
                <a:tc>
                  <a:txBody>
                    <a:bodyPr wrap="none"/>
                    <a:lstStyle/>
                    <a:p>
                      <a:pPr>
                        <a:lnSpc>
                          <a:spcPts val="1870"/>
                        </a:lnSpc>
                        <a:spcBef>
                          <a:spcPts val="0"/>
                        </a:spcBef>
                        <a:spcAft>
                          <a:spcPts val="0"/>
                        </a:spcAft>
                        <a:defRPr sz="1700" b="0">
                          <a:solidFill>
                            <a:srgbClr val="162B42"/>
                          </a:solidFill>
                          <a:latin typeface="DejaVu Sans"/>
                        </a:defRPr>
                      </a:pPr>
                      <a:r>
                        <a:t>178.42%</a:t>
                      </a:r>
                    </a:p>
                  </a:txBody>
                  <a:tcPr marL="73152" marR="73152" marT="50292" marB="0" anchor="t">
                    <a:solidFill>
                      <a:srgbClr val="FFFFFF"/>
                    </a:solidFill>
                  </a:tcPr>
                </a:tc>
                <a:tc>
                  <a:txBody>
                    <a:bodyPr wrap="none"/>
                    <a:lstStyle/>
                    <a:p>
                      <a:pPr>
                        <a:lnSpc>
                          <a:spcPts val="1870"/>
                        </a:lnSpc>
                        <a:spcBef>
                          <a:spcPts val="0"/>
                        </a:spcBef>
                        <a:spcAft>
                          <a:spcPts val="0"/>
                        </a:spcAft>
                        <a:defRPr sz="1700" b="0">
                          <a:solidFill>
                            <a:srgbClr val="162B42"/>
                          </a:solidFill>
                          <a:latin typeface="DejaVu Sans"/>
                        </a:defRPr>
                      </a:pPr>
                      <a:r>
                        <a:t>5.56%</a:t>
                      </a:r>
                    </a:p>
                  </a:txBody>
                  <a:tcPr marL="73152" marR="73152" marT="50292" marB="0" anchor="t">
                    <a:solidFill>
                      <a:srgbClr val="FFFFFF"/>
                    </a:solidFill>
                  </a:tcPr>
                </a:tc>
                <a:tc>
                  <a:txBody>
                    <a:bodyPr wrap="none"/>
                    <a:lstStyle/>
                    <a:p>
                      <a:pPr>
                        <a:lnSpc>
                          <a:spcPts val="1870"/>
                        </a:lnSpc>
                        <a:spcBef>
                          <a:spcPts val="0"/>
                        </a:spcBef>
                        <a:spcAft>
                          <a:spcPts val="0"/>
                        </a:spcAft>
                        <a:defRPr sz="1700" b="0">
                          <a:solidFill>
                            <a:srgbClr val="162B42"/>
                          </a:solidFill>
                          <a:latin typeface="DejaVu Sans"/>
                        </a:defRPr>
                      </a:pPr>
                      <a:r>
                        <a:t>-2.40</a:t>
                      </a:r>
                    </a:p>
                  </a:txBody>
                  <a:tcPr marL="73152" marR="73152" marT="50292" marB="0" anchor="t">
                    <a:solidFill>
                      <a:srgbClr val="FFFFFF"/>
                    </a:solidFill>
                  </a:tcPr>
                </a:tc>
              </a:tr>
              <a:tr h="411480">
                <a:tc>
                  <a:txBody>
                    <a:bodyPr wrap="none"/>
                    <a:lstStyle/>
                    <a:p>
                      <a:pPr>
                        <a:lnSpc>
                          <a:spcPts val="1870"/>
                        </a:lnSpc>
                        <a:spcBef>
                          <a:spcPts val="0"/>
                        </a:spcBef>
                        <a:spcAft>
                          <a:spcPts val="0"/>
                        </a:spcAft>
                        <a:defRPr sz="1700" b="0">
                          <a:solidFill>
                            <a:srgbClr val="162B42"/>
                          </a:solidFill>
                          <a:latin typeface="DejaVu Sans"/>
                        </a:defRPr>
                      </a:pPr>
                      <a:r>
                        <a:t>Benchmark</a:t>
                      </a:r>
                    </a:p>
                  </a:txBody>
                  <a:tcPr marL="73152" marR="73152" marT="50292" marB="0" anchor="t">
                    <a:solidFill>
                      <a:srgbClr val="FFFFFF"/>
                    </a:solidFill>
                  </a:tcPr>
                </a:tc>
                <a:tc>
                  <a:txBody>
                    <a:bodyPr wrap="none"/>
                    <a:lstStyle/>
                    <a:p>
                      <a:pPr>
                        <a:lnSpc>
                          <a:spcPts val="1870"/>
                        </a:lnSpc>
                        <a:spcBef>
                          <a:spcPts val="0"/>
                        </a:spcBef>
                        <a:spcAft>
                          <a:spcPts val="0"/>
                        </a:spcAft>
                        <a:defRPr sz="1700" b="0">
                          <a:solidFill>
                            <a:srgbClr val="162B42"/>
                          </a:solidFill>
                          <a:latin typeface="DejaVu Sans"/>
                        </a:defRPr>
                      </a:pPr>
                      <a:r>
                        <a:t>76.60%</a:t>
                      </a:r>
                    </a:p>
                  </a:txBody>
                  <a:tcPr marL="73152" marR="73152" marT="50292" marB="0" anchor="t">
                    <a:solidFill>
                      <a:srgbClr val="FFFFFF"/>
                    </a:solidFill>
                  </a:tcPr>
                </a:tc>
                <a:tc>
                  <a:txBody>
                    <a:bodyPr wrap="none"/>
                    <a:lstStyle/>
                    <a:p>
                      <a:pPr>
                        <a:lnSpc>
                          <a:spcPts val="1870"/>
                        </a:lnSpc>
                        <a:spcBef>
                          <a:spcPts val="0"/>
                        </a:spcBef>
                        <a:spcAft>
                          <a:spcPts val="0"/>
                        </a:spcAft>
                        <a:defRPr sz="1700" b="0">
                          <a:solidFill>
                            <a:srgbClr val="162B42"/>
                          </a:solidFill>
                          <a:latin typeface="DejaVu Sans"/>
                        </a:defRPr>
                      </a:pPr>
                      <a:r>
                        <a:t>8.18%</a:t>
                      </a:r>
                    </a:p>
                  </a:txBody>
                  <a:tcPr marL="73152" marR="73152" marT="50292" marB="0" anchor="t">
                    <a:solidFill>
                      <a:srgbClr val="FFFFFF"/>
                    </a:solidFill>
                  </a:tcPr>
                </a:tc>
                <a:tc>
                  <a:txBody>
                    <a:bodyPr wrap="none"/>
                    <a:lstStyle/>
                    <a:p>
                      <a:pPr>
                        <a:lnSpc>
                          <a:spcPts val="1870"/>
                        </a:lnSpc>
                        <a:spcBef>
                          <a:spcPts val="0"/>
                        </a:spcBef>
                        <a:spcAft>
                          <a:spcPts val="0"/>
                        </a:spcAft>
                        <a:defRPr sz="1700" b="0">
                          <a:solidFill>
                            <a:srgbClr val="162B42"/>
                          </a:solidFill>
                          <a:latin typeface="DejaVu Sans"/>
                        </a:defRPr>
                      </a:pPr>
                      <a:r>
                        <a:t>+0.00</a:t>
                      </a:r>
                    </a:p>
                  </a:txBody>
                  <a:tcPr marL="73152" marR="73152" marT="50292" marB="0" anchor="t">
                    <a:solidFill>
                      <a:srgbClr val="FFFFFF"/>
                    </a:solidFill>
                  </a:tcPr>
                </a:tc>
              </a:tr>
            </a:tbl>
          </a:graphicData>
        </a:graphic>
      </p:graphicFrame>
      <p:sp>
        <p:nvSpPr>
          <p:cNvPr id="15" name="TextBox 14"/>
          <p:cNvSpPr txBox="1"/>
          <p:nvPr/>
        </p:nvSpPr>
        <p:spPr>
          <a:xfrm>
            <a:off x="594360" y="5852160"/>
            <a:ext cx="1097280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Ridge adds net return; the latest-year excess remains modest.</a:t>
            </a:r>
          </a:p>
        </p:txBody>
      </p:sp>
      <p:sp>
        <p:nvSpPr>
          <p:cNvPr id="16" name="TextBox 15"/>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7" name="TextBox 16"/>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Economic mechanisms behind the candidate inputs</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Fourteen candidates define the common pool; fixed annual selections determine actual model inputs</a:t>
            </a:r>
          </a:p>
        </p:txBody>
      </p:sp>
      <p:sp>
        <p:nvSpPr>
          <p:cNvPr id="5" name="TextBox 4"/>
          <p:cNvSpPr txBox="1"/>
          <p:nvPr/>
        </p:nvSpPr>
        <p:spPr>
          <a:xfrm>
            <a:off x="594360" y="1664208"/>
            <a:ext cx="10972800" cy="402336"/>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Combine complementary hypotheses, then test their realised behaviour.</a:t>
            </a:r>
          </a:p>
        </p:txBody>
      </p:sp>
      <p:sp>
        <p:nvSpPr>
          <p:cNvPr id="6" name="Rounded Rectangle 5"/>
          <p:cNvSpPr/>
          <p:nvPr/>
        </p:nvSpPr>
        <p:spPr>
          <a:xfrm>
            <a:off x="502920" y="2286000"/>
            <a:ext cx="3566160" cy="3246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15968" y="2286000"/>
            <a:ext cx="3566160" cy="3246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29016" y="2286000"/>
            <a:ext cx="3566160" cy="3246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496312"/>
            <a:ext cx="3182112" cy="310896"/>
          </a:xfrm>
          <a:prstGeom prst="rect">
            <a:avLst/>
          </a:prstGeom>
          <a:noFill/>
        </p:spPr>
        <p:txBody>
          <a:bodyPr wrap="none" tIns="0" bIns="0" lIns="0" rIns="0" anchor="t">
            <a:spAutoFit/>
          </a:bodyPr>
          <a:lstStyle/>
          <a:p>
            <a:pPr algn="l">
              <a:lnSpc>
                <a:spcPts val="2016"/>
              </a:lnSpc>
              <a:spcBef>
                <a:spcPts val="0"/>
              </a:spcBef>
              <a:spcAft>
                <a:spcPts val="0"/>
              </a:spcAft>
              <a:defRPr sz="1800" b="1">
                <a:solidFill>
                  <a:srgbClr val="137F82"/>
                </a:solidFill>
                <a:latin typeface="DejaVu Sans"/>
              </a:defRPr>
            </a:pPr>
            <a:r>
              <a:t>PROFITABILITY &amp; CASH</a:t>
            </a:r>
          </a:p>
        </p:txBody>
      </p:sp>
      <p:sp>
        <p:nvSpPr>
          <p:cNvPr id="10" name="TextBox 9"/>
          <p:cNvSpPr txBox="1"/>
          <p:nvPr/>
        </p:nvSpPr>
        <p:spPr>
          <a:xfrm>
            <a:off x="694944" y="2999232"/>
            <a:ext cx="3182112" cy="192024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ROE and ROA dynamics</a:t>
            </a:r>
            <a:br/>
            <a:r>
              <a:t>Revenue-growth</a:t>
            </a:r>
            <a:br/>
            <a:r>
              <a:t>dynamics</a:t>
            </a:r>
            <a:br/>
            <a:r>
              <a:t>ROA level</a:t>
            </a:r>
            <a:br/>
            <a:r>
              <a:t>Operating cash /</a:t>
            </a:r>
            <a:br/>
            <a:r>
              <a:t>revenue</a:t>
            </a:r>
          </a:p>
        </p:txBody>
      </p:sp>
      <p:sp>
        <p:nvSpPr>
          <p:cNvPr id="11" name="TextBox 10"/>
          <p:cNvSpPr txBox="1"/>
          <p:nvPr/>
        </p:nvSpPr>
        <p:spPr>
          <a:xfrm>
            <a:off x="694944" y="5093208"/>
            <a:ext cx="3182112" cy="256032"/>
          </a:xfrm>
          <a:prstGeom prst="rect">
            <a:avLst/>
          </a:prstGeom>
          <a:noFill/>
        </p:spPr>
        <p:txBody>
          <a:bodyPr wrap="none" tIns="0" bIns="0" lIns="0" rIns="0" anchor="t">
            <a:spAutoFit/>
          </a:bodyPr>
          <a:lstStyle/>
          <a:p>
            <a:pPr algn="l">
              <a:lnSpc>
                <a:spcPts val="1680"/>
              </a:lnSpc>
              <a:spcBef>
                <a:spcPts val="0"/>
              </a:spcBef>
              <a:spcAft>
                <a:spcPts val="0"/>
              </a:spcAft>
              <a:defRPr sz="1500" b="0">
                <a:solidFill>
                  <a:srgbClr val="657489"/>
                </a:solidFill>
                <a:latin typeface="DejaVu Sans"/>
              </a:defRPr>
            </a:pPr>
            <a:r>
              <a:t>F1 · F2 · F3 · F8 · F9</a:t>
            </a:r>
          </a:p>
        </p:txBody>
      </p:sp>
      <p:sp>
        <p:nvSpPr>
          <p:cNvPr id="12" name="TextBox 11"/>
          <p:cNvSpPr txBox="1"/>
          <p:nvPr/>
        </p:nvSpPr>
        <p:spPr>
          <a:xfrm>
            <a:off x="4507992" y="2496312"/>
            <a:ext cx="3182112" cy="310896"/>
          </a:xfrm>
          <a:prstGeom prst="rect">
            <a:avLst/>
          </a:prstGeom>
          <a:noFill/>
        </p:spPr>
        <p:txBody>
          <a:bodyPr wrap="none" tIns="0" bIns="0" lIns="0" rIns="0" anchor="t">
            <a:spAutoFit/>
          </a:bodyPr>
          <a:lstStyle/>
          <a:p>
            <a:pPr algn="l">
              <a:lnSpc>
                <a:spcPts val="2016"/>
              </a:lnSpc>
              <a:spcBef>
                <a:spcPts val="0"/>
              </a:spcBef>
              <a:spcAft>
                <a:spcPts val="0"/>
              </a:spcAft>
              <a:defRPr sz="1800" b="1">
                <a:solidFill>
                  <a:srgbClr val="137F82"/>
                </a:solidFill>
                <a:latin typeface="DejaVu Sans"/>
              </a:defRPr>
            </a:pPr>
            <a:r>
              <a:t>VALUATION &amp; LEVERAGE</a:t>
            </a:r>
          </a:p>
        </p:txBody>
      </p:sp>
      <p:sp>
        <p:nvSpPr>
          <p:cNvPr id="13" name="TextBox 12"/>
          <p:cNvSpPr txBox="1"/>
          <p:nvPr/>
        </p:nvSpPr>
        <p:spPr>
          <a:xfrm>
            <a:off x="4507992" y="2999232"/>
            <a:ext cx="3182112" cy="192024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Signed book / market</a:t>
            </a:r>
            <a:br/>
            <a:r>
              <a:t>Signed TTM earnings</a:t>
            </a:r>
            <a:br/>
            <a:r>
              <a:t>yield</a:t>
            </a:r>
            <a:br/>
            <a:r>
              <a:t>Debt / equity dynamics</a:t>
            </a:r>
            <a:br/>
            <a:r>
              <a:t>Low debt / assets</a:t>
            </a:r>
          </a:p>
        </p:txBody>
      </p:sp>
      <p:sp>
        <p:nvSpPr>
          <p:cNvPr id="14" name="TextBox 13"/>
          <p:cNvSpPr txBox="1"/>
          <p:nvPr/>
        </p:nvSpPr>
        <p:spPr>
          <a:xfrm>
            <a:off x="4507992" y="5093208"/>
            <a:ext cx="3182112" cy="256032"/>
          </a:xfrm>
          <a:prstGeom prst="rect">
            <a:avLst/>
          </a:prstGeom>
          <a:noFill/>
        </p:spPr>
        <p:txBody>
          <a:bodyPr wrap="none" tIns="0" bIns="0" lIns="0" rIns="0" anchor="t">
            <a:spAutoFit/>
          </a:bodyPr>
          <a:lstStyle/>
          <a:p>
            <a:pPr algn="l">
              <a:lnSpc>
                <a:spcPts val="1680"/>
              </a:lnSpc>
              <a:spcBef>
                <a:spcPts val="0"/>
              </a:spcBef>
              <a:spcAft>
                <a:spcPts val="0"/>
              </a:spcAft>
              <a:defRPr sz="1500" b="0">
                <a:solidFill>
                  <a:srgbClr val="657489"/>
                </a:solidFill>
                <a:latin typeface="DejaVu Sans"/>
              </a:defRPr>
            </a:pPr>
            <a:r>
              <a:t>F5 · F6 · F7 · F10</a:t>
            </a:r>
          </a:p>
        </p:txBody>
      </p:sp>
      <p:sp>
        <p:nvSpPr>
          <p:cNvPr id="15" name="TextBox 14"/>
          <p:cNvSpPr txBox="1"/>
          <p:nvPr/>
        </p:nvSpPr>
        <p:spPr>
          <a:xfrm>
            <a:off x="8321040" y="2496312"/>
            <a:ext cx="3182112" cy="310896"/>
          </a:xfrm>
          <a:prstGeom prst="rect">
            <a:avLst/>
          </a:prstGeom>
          <a:noFill/>
        </p:spPr>
        <p:txBody>
          <a:bodyPr wrap="none" tIns="0" bIns="0" lIns="0" rIns="0" anchor="t">
            <a:spAutoFit/>
          </a:bodyPr>
          <a:lstStyle/>
          <a:p>
            <a:pPr algn="l">
              <a:lnSpc>
                <a:spcPts val="2016"/>
              </a:lnSpc>
              <a:spcBef>
                <a:spcPts val="0"/>
              </a:spcBef>
              <a:spcAft>
                <a:spcPts val="0"/>
              </a:spcAft>
              <a:defRPr sz="1800" b="1">
                <a:solidFill>
                  <a:srgbClr val="137F82"/>
                </a:solidFill>
                <a:latin typeface="DejaVu Sans"/>
              </a:defRPr>
            </a:pPr>
            <a:r>
              <a:t>PRICE &amp; TRADING</a:t>
            </a:r>
          </a:p>
        </p:txBody>
      </p:sp>
      <p:sp>
        <p:nvSpPr>
          <p:cNvPr id="16" name="TextBox 15"/>
          <p:cNvSpPr txBox="1"/>
          <p:nvPr/>
        </p:nvSpPr>
        <p:spPr>
          <a:xfrm>
            <a:off x="8321040" y="2999232"/>
            <a:ext cx="3182112" cy="192024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20- and 60-day</a:t>
            </a:r>
            <a:br/>
            <a:r>
              <a:t>momentum</a:t>
            </a:r>
            <a:br/>
            <a:r>
              <a:t>126-to-20-day</a:t>
            </a:r>
            <a:br/>
            <a:r>
              <a:t>momentum</a:t>
            </a:r>
            <a:br/>
            <a:r>
              <a:t>Return volatility</a:t>
            </a:r>
            <a:br/>
            <a:r>
              <a:t>Average turnover</a:t>
            </a:r>
          </a:p>
        </p:txBody>
      </p:sp>
      <p:sp>
        <p:nvSpPr>
          <p:cNvPr id="17" name="TextBox 16"/>
          <p:cNvSpPr txBox="1"/>
          <p:nvPr/>
        </p:nvSpPr>
        <p:spPr>
          <a:xfrm>
            <a:off x="8321040" y="5093208"/>
            <a:ext cx="3182112" cy="256032"/>
          </a:xfrm>
          <a:prstGeom prst="rect">
            <a:avLst/>
          </a:prstGeom>
          <a:noFill/>
        </p:spPr>
        <p:txBody>
          <a:bodyPr wrap="none" tIns="0" bIns="0" lIns="0" rIns="0" anchor="t">
            <a:spAutoFit/>
          </a:bodyPr>
          <a:lstStyle/>
          <a:p>
            <a:pPr algn="l">
              <a:lnSpc>
                <a:spcPts val="1680"/>
              </a:lnSpc>
              <a:spcBef>
                <a:spcPts val="0"/>
              </a:spcBef>
              <a:spcAft>
                <a:spcPts val="0"/>
              </a:spcAft>
              <a:defRPr sz="1500" b="0">
                <a:solidFill>
                  <a:srgbClr val="657489"/>
                </a:solidFill>
                <a:latin typeface="DejaVu Sans"/>
              </a:defRPr>
            </a:pPr>
            <a:r>
              <a:t>T1 · T2 · T3 · T5 · T6</a:t>
            </a:r>
          </a:p>
        </p:txBody>
      </p:sp>
      <p:sp>
        <p:nvSpPr>
          <p:cNvPr id="18" name="TextBox 17"/>
          <p:cNvSpPr txBox="1"/>
          <p:nvPr/>
        </p:nvSpPr>
        <p:spPr>
          <a:xfrm>
            <a:off x="594360" y="5879592"/>
            <a:ext cx="10972800" cy="39319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Signs and usefulness can vary; no economic story guarantees alpha.</a:t>
            </a:r>
          </a:p>
        </p:txBody>
      </p:sp>
      <p:sp>
        <p:nvSpPr>
          <p:cNvPr id="19" name="TextBox 18"/>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20" name="TextBox 19"/>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Historical coverage defines the opportunity set</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2 Jan 2018 – 29 Apr 2026 | 2,018 sessions | 6,000 historical slots</a:t>
            </a:r>
          </a:p>
        </p:txBody>
      </p:sp>
      <p:sp>
        <p:nvSpPr>
          <p:cNvPr id="5" name="TextBox 4"/>
          <p:cNvSpPr txBox="1"/>
          <p:nvPr/>
        </p:nvSpPr>
        <p:spPr>
          <a:xfrm>
            <a:off x="594360" y="1673352"/>
            <a:ext cx="10972800" cy="320040"/>
          </a:xfrm>
          <a:prstGeom prst="rect">
            <a:avLst/>
          </a:prstGeom>
          <a:noFill/>
        </p:spPr>
        <p:txBody>
          <a:bodyPr wrap="none" tIns="0" bIns="0" lIns="0" rIns="0" anchor="t">
            <a:spAutoFit/>
          </a:bodyPr>
          <a:lstStyle/>
          <a:p>
            <a:pPr algn="l">
              <a:lnSpc>
                <a:spcPts val="2016"/>
              </a:lnSpc>
              <a:spcBef>
                <a:spcPts val="0"/>
              </a:spcBef>
              <a:spcAft>
                <a:spcPts val="0"/>
              </a:spcAft>
              <a:defRPr sz="1800" b="1">
                <a:solidFill>
                  <a:srgbClr val="162B42"/>
                </a:solidFill>
                <a:latin typeface="DejaVu Sans"/>
              </a:defRPr>
            </a:pPr>
            <a:r>
              <a:t>16 saved columns · 14 finite candidates · First signal: 11 Jul 2018</a:t>
            </a:r>
          </a:p>
        </p:txBody>
      </p:sp>
      <p:pic>
        <p:nvPicPr>
          <p:cNvPr id="6" name="Picture 5" descr="coverage_slide.png"/>
          <p:cNvPicPr>
            <a:picLocks noChangeAspect="1"/>
          </p:cNvPicPr>
          <p:nvPr/>
        </p:nvPicPr>
        <p:blipFill>
          <a:blip r:embed="rId2"/>
          <a:stretch>
            <a:fillRect/>
          </a:stretch>
        </p:blipFill>
        <p:spPr>
          <a:xfrm>
            <a:off x="502920" y="2176272"/>
            <a:ext cx="11109960" cy="3246120"/>
          </a:xfrm>
          <a:prstGeom prst="rect">
            <a:avLst/>
          </a:prstGeom>
        </p:spPr>
      </p:pic>
      <p:sp>
        <p:nvSpPr>
          <p:cNvPr id="7" name="TextBox 6"/>
          <p:cNvSpPr txBox="1"/>
          <p:nvPr/>
        </p:nvSpPr>
        <p:spPr>
          <a:xfrm>
            <a:off x="594360" y="5650992"/>
            <a:ext cx="1097280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All methods share one historical pool; unavailable inputs stay missing.</a:t>
            </a:r>
          </a:p>
        </p:txBody>
      </p:sp>
      <p:sp>
        <p:nvSpPr>
          <p:cNvPr id="8" name="TextBox 7"/>
          <p:cNvSpPr txBox="1"/>
          <p:nvPr/>
        </p:nvSpPr>
        <p:spPr>
          <a:xfrm>
            <a:off x="594360" y="6153912"/>
            <a:ext cx="10972800" cy="219456"/>
          </a:xfrm>
          <a:prstGeom prst="rect">
            <a:avLst/>
          </a:prstGeom>
          <a:noFill/>
        </p:spPr>
        <p:txBody>
          <a:bodyPr wrap="none" tIns="0" bIns="0" lIns="0" rIns="0" anchor="t">
            <a:spAutoFit/>
          </a:bodyPr>
          <a:lstStyle/>
          <a:p>
            <a:pPr algn="l">
              <a:lnSpc>
                <a:spcPts val="1344"/>
              </a:lnSpc>
              <a:spcBef>
                <a:spcPts val="0"/>
              </a:spcBef>
              <a:spcAft>
                <a:spcPts val="0"/>
              </a:spcAft>
              <a:defRPr sz="1200" b="0">
                <a:solidFill>
                  <a:srgbClr val="657489"/>
                </a:solidFill>
                <a:latin typeface="DejaVu Sans"/>
              </a:defRPr>
            </a:pPr>
            <a:r>
              <a:t>Report period and both announcement dates are screened. Unrevised vendor vintages cannot be certified.</a:t>
            </a:r>
          </a:p>
        </p:txBody>
      </p:sp>
      <p:sp>
        <p:nvSpPr>
          <p:cNvPr id="9" name="TextBox 8"/>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0" name="TextBox 9"/>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A fixed model and processing pipeline</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Predict raw 20-session returns; update the scores every market day</a:t>
            </a:r>
          </a:p>
        </p:txBody>
      </p:sp>
      <p:sp>
        <p:nvSpPr>
          <p:cNvPr id="5" name="Rounded Rectangle 4"/>
          <p:cNvSpPr/>
          <p:nvPr/>
        </p:nvSpPr>
        <p:spPr>
          <a:xfrm>
            <a:off x="502920" y="1792224"/>
            <a:ext cx="2011680" cy="95097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993392"/>
            <a:ext cx="1792224" cy="585216"/>
          </a:xfrm>
          <a:prstGeom prst="rect">
            <a:avLst/>
          </a:prstGeom>
          <a:noFill/>
        </p:spPr>
        <p:txBody>
          <a:bodyPr wrap="none" tIns="0" bIns="0" lIns="0" rIns="0" anchor="t">
            <a:spAutoFit/>
          </a:bodyPr>
          <a:lstStyle/>
          <a:p>
            <a:pPr algn="ctr">
              <a:lnSpc>
                <a:spcPts val="2128"/>
              </a:lnSpc>
              <a:spcBef>
                <a:spcPts val="0"/>
              </a:spcBef>
              <a:spcAft>
                <a:spcPts val="0"/>
              </a:spcAft>
              <a:defRPr sz="1900" b="1">
                <a:solidFill>
                  <a:srgbClr val="137F82"/>
                </a:solidFill>
                <a:latin typeface="DejaVu Sans"/>
              </a:defRPr>
            </a:pPr>
            <a:r>
              <a:t>Prepared</a:t>
            </a:r>
            <a:br/>
            <a:r>
              <a:t>inputs</a:t>
            </a:r>
          </a:p>
        </p:txBody>
      </p:sp>
      <p:sp>
        <p:nvSpPr>
          <p:cNvPr id="7" name="Rounded Rectangle 6"/>
          <p:cNvSpPr/>
          <p:nvPr/>
        </p:nvSpPr>
        <p:spPr>
          <a:xfrm>
            <a:off x="2770632" y="1792224"/>
            <a:ext cx="2011680" cy="95097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0360" y="1993392"/>
            <a:ext cx="1792224" cy="585216"/>
          </a:xfrm>
          <a:prstGeom prst="rect">
            <a:avLst/>
          </a:prstGeom>
          <a:noFill/>
        </p:spPr>
        <p:txBody>
          <a:bodyPr wrap="none" tIns="0" bIns="0" lIns="0" rIns="0" anchor="t">
            <a:spAutoFit/>
          </a:bodyPr>
          <a:lstStyle/>
          <a:p>
            <a:pPr algn="ctr">
              <a:lnSpc>
                <a:spcPts val="2128"/>
              </a:lnSpc>
              <a:spcBef>
                <a:spcPts val="0"/>
              </a:spcBef>
              <a:spcAft>
                <a:spcPts val="0"/>
              </a:spcAft>
              <a:defRPr sz="1900" b="1">
                <a:solidFill>
                  <a:srgbClr val="137F82"/>
                </a:solidFill>
                <a:latin typeface="DejaVu Sans"/>
              </a:defRPr>
            </a:pPr>
            <a:r>
              <a:t>Within-date</a:t>
            </a:r>
            <a:br/>
            <a:r>
              <a:t>ranks</a:t>
            </a:r>
          </a:p>
        </p:txBody>
      </p:sp>
      <p:sp>
        <p:nvSpPr>
          <p:cNvPr id="9" name="Rounded Rectangle 8"/>
          <p:cNvSpPr/>
          <p:nvPr/>
        </p:nvSpPr>
        <p:spPr>
          <a:xfrm>
            <a:off x="5038344" y="1792224"/>
            <a:ext cx="2011680" cy="95097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8072" y="1993392"/>
            <a:ext cx="1792224" cy="585216"/>
          </a:xfrm>
          <a:prstGeom prst="rect">
            <a:avLst/>
          </a:prstGeom>
          <a:noFill/>
        </p:spPr>
        <p:txBody>
          <a:bodyPr wrap="none" tIns="0" bIns="0" lIns="0" rIns="0" anchor="t">
            <a:spAutoFit/>
          </a:bodyPr>
          <a:lstStyle/>
          <a:p>
            <a:pPr algn="ctr">
              <a:lnSpc>
                <a:spcPts val="2128"/>
              </a:lnSpc>
              <a:spcBef>
                <a:spcPts val="0"/>
              </a:spcBef>
              <a:spcAft>
                <a:spcPts val="0"/>
              </a:spcAft>
              <a:defRPr sz="1900" b="1">
                <a:solidFill>
                  <a:srgbClr val="137F82"/>
                </a:solidFill>
                <a:latin typeface="DejaVu Sans"/>
              </a:defRPr>
            </a:pPr>
            <a:r>
              <a:t>Fixed annual</a:t>
            </a:r>
            <a:br/>
            <a:r>
              <a:t>fits</a:t>
            </a:r>
          </a:p>
        </p:txBody>
      </p:sp>
      <p:sp>
        <p:nvSpPr>
          <p:cNvPr id="11" name="Rounded Rectangle 10"/>
          <p:cNvSpPr/>
          <p:nvPr/>
        </p:nvSpPr>
        <p:spPr>
          <a:xfrm>
            <a:off x="7306056" y="1792224"/>
            <a:ext cx="2011680" cy="95097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5783" y="1993392"/>
            <a:ext cx="1792224" cy="585216"/>
          </a:xfrm>
          <a:prstGeom prst="rect">
            <a:avLst/>
          </a:prstGeom>
          <a:noFill/>
        </p:spPr>
        <p:txBody>
          <a:bodyPr wrap="none" tIns="0" bIns="0" lIns="0" rIns="0" anchor="t">
            <a:spAutoFit/>
          </a:bodyPr>
          <a:lstStyle/>
          <a:p>
            <a:pPr algn="ctr">
              <a:lnSpc>
                <a:spcPts val="2128"/>
              </a:lnSpc>
              <a:spcBef>
                <a:spcPts val="0"/>
              </a:spcBef>
              <a:spcAft>
                <a:spcPts val="0"/>
              </a:spcAft>
              <a:defRPr sz="1900" b="1">
                <a:solidFill>
                  <a:srgbClr val="137F82"/>
                </a:solidFill>
                <a:latin typeface="DejaVu Sans"/>
              </a:defRPr>
            </a:pPr>
            <a:r>
              <a:t>Industry +</a:t>
            </a:r>
            <a:br/>
            <a:r>
              <a:t>log size</a:t>
            </a:r>
          </a:p>
        </p:txBody>
      </p:sp>
      <p:sp>
        <p:nvSpPr>
          <p:cNvPr id="13" name="Rounded Rectangle 12"/>
          <p:cNvSpPr/>
          <p:nvPr/>
        </p:nvSpPr>
        <p:spPr>
          <a:xfrm>
            <a:off x="9573768" y="1792224"/>
            <a:ext cx="2011680" cy="95097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83496" y="1993392"/>
            <a:ext cx="1792224" cy="585216"/>
          </a:xfrm>
          <a:prstGeom prst="rect">
            <a:avLst/>
          </a:prstGeom>
          <a:noFill/>
        </p:spPr>
        <p:txBody>
          <a:bodyPr wrap="none" tIns="0" bIns="0" lIns="0" rIns="0" anchor="t">
            <a:spAutoFit/>
          </a:bodyPr>
          <a:lstStyle/>
          <a:p>
            <a:pPr algn="ctr">
              <a:lnSpc>
                <a:spcPts val="2128"/>
              </a:lnSpc>
              <a:spcBef>
                <a:spcPts val="0"/>
              </a:spcBef>
              <a:spcAft>
                <a:spcPts val="0"/>
              </a:spcAft>
              <a:defRPr sz="1900" b="1">
                <a:solidFill>
                  <a:srgbClr val="137F82"/>
                </a:solidFill>
                <a:latin typeface="DejaVu Sans"/>
              </a:defRPr>
            </a:pPr>
            <a:r>
              <a:t>Causal EMA</a:t>
            </a:r>
            <a:br/>
            <a:r>
              <a:t>and rerank</a:t>
            </a:r>
          </a:p>
        </p:txBody>
      </p:sp>
      <p:graphicFrame>
        <p:nvGraphicFramePr>
          <p:cNvPr id="15" name="Table 14"/>
          <p:cNvGraphicFramePr>
            <a:graphicFrameLocks noGrp="1"/>
          </p:cNvGraphicFramePr>
          <p:nvPr/>
        </p:nvGraphicFramePr>
        <p:xfrm>
          <a:off x="502920" y="3090672"/>
          <a:ext cx="11109960" cy="2240280"/>
        </p:xfrm>
        <a:graphic>
          <a:graphicData uri="http://schemas.openxmlformats.org/drawingml/2006/table">
            <a:tbl>
              <a:tblPr firstRow="1" bandRow="1">
                <a:tableStyleId>{5C22544A-7EE6-4342-B048-85BDC9FD1C3A}</a:tableStyleId>
              </a:tblPr>
              <a:tblGrid>
                <a:gridCol w="2468880"/>
                <a:gridCol w="5989320"/>
                <a:gridCol w="2651760"/>
              </a:tblGrid>
              <a:tr h="448056">
                <a:tc>
                  <a:txBody>
                    <a:bodyPr wrap="none"/>
                    <a:lstStyle/>
                    <a:p>
                      <a:pPr>
                        <a:lnSpc>
                          <a:spcPts val="1980"/>
                        </a:lnSpc>
                        <a:spcBef>
                          <a:spcPts val="0"/>
                        </a:spcBef>
                        <a:spcAft>
                          <a:spcPts val="0"/>
                        </a:spcAft>
                        <a:defRPr sz="1800" b="1">
                          <a:solidFill>
                            <a:srgbClr val="162B42"/>
                          </a:solidFill>
                          <a:latin typeface="DejaVu Sans"/>
                        </a:defRPr>
                      </a:pPr>
                      <a:r>
                        <a:t>Method</a:t>
                      </a:r>
                    </a:p>
                  </a:txBody>
                  <a:tcPr marL="73152" marR="73152" marT="50292" marB="0" anchor="t">
                    <a:solidFill>
                      <a:srgbClr val="E3EFF0"/>
                    </a:solidFill>
                  </a:tcPr>
                </a:tc>
                <a:tc>
                  <a:txBody>
                    <a:bodyPr wrap="none"/>
                    <a:lstStyle/>
                    <a:p>
                      <a:pPr>
                        <a:lnSpc>
                          <a:spcPts val="1980"/>
                        </a:lnSpc>
                        <a:spcBef>
                          <a:spcPts val="0"/>
                        </a:spcBef>
                        <a:spcAft>
                          <a:spcPts val="0"/>
                        </a:spcAft>
                        <a:defRPr sz="1800" b="1">
                          <a:solidFill>
                            <a:srgbClr val="162B42"/>
                          </a:solidFill>
                          <a:latin typeface="DejaVu Sans"/>
                        </a:defRPr>
                      </a:pPr>
                      <a:r>
                        <a:t>Score or fixed model</a:t>
                      </a:r>
                    </a:p>
                  </a:txBody>
                  <a:tcPr marL="73152" marR="73152" marT="50292" marB="0" anchor="t">
                    <a:solidFill>
                      <a:srgbClr val="E3EFF0"/>
                    </a:solidFill>
                  </a:tcPr>
                </a:tc>
                <a:tc>
                  <a:txBody>
                    <a:bodyPr wrap="none"/>
                    <a:lstStyle/>
                    <a:p>
                      <a:pPr>
                        <a:lnSpc>
                          <a:spcPts val="1980"/>
                        </a:lnSpc>
                        <a:spcBef>
                          <a:spcPts val="0"/>
                        </a:spcBef>
                        <a:spcAft>
                          <a:spcPts val="0"/>
                        </a:spcAft>
                        <a:defRPr sz="1800" b="1">
                          <a:solidFill>
                            <a:srgbClr val="162B42"/>
                          </a:solidFill>
                          <a:latin typeface="DejaVu Sans"/>
                        </a:defRPr>
                      </a:pPr>
                      <a:r>
                        <a:t>EMA sessions</a:t>
                      </a:r>
                    </a:p>
                  </a:txBody>
                  <a:tcPr marL="73152" marR="73152" marT="50292" marB="0" anchor="t">
                    <a:solidFill>
                      <a:srgbClr val="E3EFF0"/>
                    </a:solidFill>
                  </a:tcPr>
                </a:tc>
              </a:tr>
              <a:tr h="448056">
                <a:tc>
                  <a:txBody>
                    <a:bodyPr wrap="none"/>
                    <a:lstStyle/>
                    <a:p>
                      <a:pPr>
                        <a:lnSpc>
                          <a:spcPts val="1980"/>
                        </a:lnSpc>
                        <a:spcBef>
                          <a:spcPts val="0"/>
                        </a:spcBef>
                        <a:spcAft>
                          <a:spcPts val="0"/>
                        </a:spcAft>
                        <a:defRPr sz="1800" b="0">
                          <a:solidFill>
                            <a:srgbClr val="162B42"/>
                          </a:solidFill>
                          <a:latin typeface="DejaVu Sans"/>
                        </a:defRPr>
                      </a:pPr>
                      <a:r>
                        <a:t>Fundamental</a:t>
                      </a:r>
                    </a:p>
                  </a:txBody>
                  <a:tcPr marL="73152" marR="73152" marT="50292" marB="0" anchor="t">
                    <a:solidFill>
                      <a:srgbClr val="FFFFFF"/>
                    </a:solidFill>
                  </a:tcPr>
                </a:tc>
                <a:tc>
                  <a:txBody>
                    <a:bodyPr wrap="none"/>
                    <a:lstStyle/>
                    <a:p>
                      <a:pPr>
                        <a:lnSpc>
                          <a:spcPts val="1980"/>
                        </a:lnSpc>
                        <a:spcBef>
                          <a:spcPts val="0"/>
                        </a:spcBef>
                        <a:spcAft>
                          <a:spcPts val="0"/>
                        </a:spcAft>
                        <a:defRPr sz="1800" b="0">
                          <a:solidFill>
                            <a:srgbClr val="162B42"/>
                          </a:solidFill>
                          <a:latin typeface="DejaVu Sans"/>
                        </a:defRPr>
                      </a:pPr>
                      <a:r>
                        <a:t>Signed financial ranks</a:t>
                      </a:r>
                    </a:p>
                  </a:txBody>
                  <a:tcPr marL="73152" marR="73152" marT="50292" marB="0" anchor="t">
                    <a:solidFill>
                      <a:srgbClr val="FFFFFF"/>
                    </a:solidFill>
                  </a:tcPr>
                </a:tc>
                <a:tc>
                  <a:txBody>
                    <a:bodyPr wrap="none"/>
                    <a:lstStyle/>
                    <a:p>
                      <a:pPr>
                        <a:lnSpc>
                          <a:spcPts val="1980"/>
                        </a:lnSpc>
                        <a:spcBef>
                          <a:spcPts val="0"/>
                        </a:spcBef>
                        <a:spcAft>
                          <a:spcPts val="0"/>
                        </a:spcAft>
                        <a:defRPr sz="1800" b="0">
                          <a:solidFill>
                            <a:srgbClr val="162B42"/>
                          </a:solidFill>
                          <a:latin typeface="DejaVu Sans"/>
                        </a:defRPr>
                      </a:pPr>
                      <a:r>
                        <a:t>20</a:t>
                      </a:r>
                    </a:p>
                  </a:txBody>
                  <a:tcPr marL="73152" marR="73152" marT="50292" marB="0" anchor="t">
                    <a:solidFill>
                      <a:srgbClr val="FFFFFF"/>
                    </a:solidFill>
                  </a:tcPr>
                </a:tc>
              </a:tr>
              <a:tr h="448056">
                <a:tc>
                  <a:txBody>
                    <a:bodyPr wrap="none"/>
                    <a:lstStyle/>
                    <a:p>
                      <a:pPr>
                        <a:lnSpc>
                          <a:spcPts val="1980"/>
                        </a:lnSpc>
                        <a:spcBef>
                          <a:spcPts val="0"/>
                        </a:spcBef>
                        <a:spcAft>
                          <a:spcPts val="0"/>
                        </a:spcAft>
                        <a:defRPr sz="1800" b="0">
                          <a:solidFill>
                            <a:srgbClr val="162B42"/>
                          </a:solidFill>
                          <a:latin typeface="DejaVu Sans"/>
                        </a:defRPr>
                      </a:pPr>
                      <a:r>
                        <a:t>Combined</a:t>
                      </a:r>
                    </a:p>
                  </a:txBody>
                  <a:tcPr marL="73152" marR="73152" marT="50292" marB="0" anchor="t">
                    <a:solidFill>
                      <a:srgbClr val="FFFFFF"/>
                    </a:solidFill>
                  </a:tcPr>
                </a:tc>
                <a:tc>
                  <a:txBody>
                    <a:bodyPr wrap="none"/>
                    <a:lstStyle/>
                    <a:p>
                      <a:pPr>
                        <a:lnSpc>
                          <a:spcPts val="1980"/>
                        </a:lnSpc>
                        <a:spcBef>
                          <a:spcPts val="0"/>
                        </a:spcBef>
                        <a:spcAft>
                          <a:spcPts val="0"/>
                        </a:spcAft>
                        <a:defRPr sz="1800" b="0">
                          <a:solidFill>
                            <a:srgbClr val="162B42"/>
                          </a:solidFill>
                          <a:latin typeface="DejaVu Sans"/>
                        </a:defRPr>
                      </a:pPr>
                      <a:r>
                        <a:t>Equal financial / technical families</a:t>
                      </a:r>
                    </a:p>
                  </a:txBody>
                  <a:tcPr marL="73152" marR="73152" marT="50292" marB="0" anchor="t">
                    <a:solidFill>
                      <a:srgbClr val="FFFFFF"/>
                    </a:solidFill>
                  </a:tcPr>
                </a:tc>
                <a:tc>
                  <a:txBody>
                    <a:bodyPr wrap="none"/>
                    <a:lstStyle/>
                    <a:p>
                      <a:pPr>
                        <a:lnSpc>
                          <a:spcPts val="1980"/>
                        </a:lnSpc>
                        <a:spcBef>
                          <a:spcPts val="0"/>
                        </a:spcBef>
                        <a:spcAft>
                          <a:spcPts val="0"/>
                        </a:spcAft>
                        <a:defRPr sz="1800" b="0">
                          <a:solidFill>
                            <a:srgbClr val="162B42"/>
                          </a:solidFill>
                          <a:latin typeface="DejaVu Sans"/>
                        </a:defRPr>
                      </a:pPr>
                      <a:r>
                        <a:t>40</a:t>
                      </a:r>
                    </a:p>
                  </a:txBody>
                  <a:tcPr marL="73152" marR="73152" marT="50292" marB="0" anchor="t">
                    <a:solidFill>
                      <a:srgbClr val="FFFFFF"/>
                    </a:solidFill>
                  </a:tcPr>
                </a:tc>
              </a:tr>
              <a:tr h="448056">
                <a:tc>
                  <a:txBody>
                    <a:bodyPr wrap="none"/>
                    <a:lstStyle/>
                    <a:p>
                      <a:pPr>
                        <a:lnSpc>
                          <a:spcPts val="1980"/>
                        </a:lnSpc>
                        <a:spcBef>
                          <a:spcPts val="0"/>
                        </a:spcBef>
                        <a:spcAft>
                          <a:spcPts val="0"/>
                        </a:spcAft>
                        <a:defRPr sz="1800" b="0">
                          <a:solidFill>
                            <a:srgbClr val="162B42"/>
                          </a:solidFill>
                          <a:latin typeface="DejaVu Sans"/>
                        </a:defRPr>
                      </a:pPr>
                      <a:r>
                        <a:t>Ridge</a:t>
                      </a:r>
                    </a:p>
                  </a:txBody>
                  <a:tcPr marL="73152" marR="73152" marT="50292" marB="0" anchor="t">
                    <a:solidFill>
                      <a:srgbClr val="EAF3F3"/>
                    </a:solidFill>
                  </a:tcPr>
                </a:tc>
                <a:tc>
                  <a:txBody>
                    <a:bodyPr wrap="none"/>
                    <a:lstStyle/>
                    <a:p>
                      <a:pPr>
                        <a:lnSpc>
                          <a:spcPts val="1980"/>
                        </a:lnSpc>
                        <a:spcBef>
                          <a:spcPts val="0"/>
                        </a:spcBef>
                        <a:spcAft>
                          <a:spcPts val="0"/>
                        </a:spcAft>
                        <a:defRPr sz="1800" b="0">
                          <a:solidFill>
                            <a:srgbClr val="162B42"/>
                          </a:solidFill>
                          <a:latin typeface="DejaVu Sans"/>
                        </a:defRPr>
                      </a:pPr>
                      <a:r>
                        <a:t>alpha = 10,000</a:t>
                      </a:r>
                    </a:p>
                  </a:txBody>
                  <a:tcPr marL="73152" marR="73152" marT="50292" marB="0" anchor="t">
                    <a:solidFill>
                      <a:srgbClr val="EAF3F3"/>
                    </a:solidFill>
                  </a:tcPr>
                </a:tc>
                <a:tc>
                  <a:txBody>
                    <a:bodyPr wrap="none"/>
                    <a:lstStyle/>
                    <a:p>
                      <a:pPr>
                        <a:lnSpc>
                          <a:spcPts val="1980"/>
                        </a:lnSpc>
                        <a:spcBef>
                          <a:spcPts val="0"/>
                        </a:spcBef>
                        <a:spcAft>
                          <a:spcPts val="0"/>
                        </a:spcAft>
                        <a:defRPr sz="1800" b="0">
                          <a:solidFill>
                            <a:srgbClr val="162B42"/>
                          </a:solidFill>
                          <a:latin typeface="DejaVu Sans"/>
                        </a:defRPr>
                      </a:pPr>
                      <a:r>
                        <a:t>20</a:t>
                      </a:r>
                    </a:p>
                  </a:txBody>
                  <a:tcPr marL="73152" marR="73152" marT="50292" marB="0" anchor="t">
                    <a:solidFill>
                      <a:srgbClr val="EAF3F3"/>
                    </a:solidFill>
                  </a:tcPr>
                </a:tc>
              </a:tr>
              <a:tr h="448056">
                <a:tc>
                  <a:txBody>
                    <a:bodyPr wrap="none"/>
                    <a:lstStyle/>
                    <a:p>
                      <a:pPr>
                        <a:lnSpc>
                          <a:spcPts val="1980"/>
                        </a:lnSpc>
                        <a:spcBef>
                          <a:spcPts val="0"/>
                        </a:spcBef>
                        <a:spcAft>
                          <a:spcPts val="0"/>
                        </a:spcAft>
                        <a:defRPr sz="1800" b="0">
                          <a:solidFill>
                            <a:srgbClr val="162B42"/>
                          </a:solidFill>
                          <a:latin typeface="DejaVu Sans"/>
                        </a:defRPr>
                      </a:pPr>
                      <a:r>
                        <a:t>LightGBM</a:t>
                      </a:r>
                    </a:p>
                  </a:txBody>
                  <a:tcPr marL="73152" marR="73152" marT="50292" marB="0" anchor="t">
                    <a:solidFill>
                      <a:srgbClr val="FFFFFF"/>
                    </a:solidFill>
                  </a:tcPr>
                </a:tc>
                <a:tc>
                  <a:txBody>
                    <a:bodyPr wrap="none"/>
                    <a:lstStyle/>
                    <a:p>
                      <a:pPr>
                        <a:lnSpc>
                          <a:spcPts val="1980"/>
                        </a:lnSpc>
                        <a:spcBef>
                          <a:spcPts val="0"/>
                        </a:spcBef>
                        <a:spcAft>
                          <a:spcPts val="0"/>
                        </a:spcAft>
                        <a:defRPr sz="1800" b="0">
                          <a:solidFill>
                            <a:srgbClr val="162B42"/>
                          </a:solidFill>
                          <a:latin typeface="DejaVu Sans"/>
                        </a:defRPr>
                      </a:pPr>
                      <a:r>
                        <a:t>depth 3; 7 leaves; 56 trees</a:t>
                      </a:r>
                    </a:p>
                  </a:txBody>
                  <a:tcPr marL="73152" marR="73152" marT="50292" marB="0" anchor="t">
                    <a:solidFill>
                      <a:srgbClr val="FFFFFF"/>
                    </a:solidFill>
                  </a:tcPr>
                </a:tc>
                <a:tc>
                  <a:txBody>
                    <a:bodyPr wrap="none"/>
                    <a:lstStyle/>
                    <a:p>
                      <a:pPr>
                        <a:lnSpc>
                          <a:spcPts val="1980"/>
                        </a:lnSpc>
                        <a:spcBef>
                          <a:spcPts val="0"/>
                        </a:spcBef>
                        <a:spcAft>
                          <a:spcPts val="0"/>
                        </a:spcAft>
                        <a:defRPr sz="1800" b="0">
                          <a:solidFill>
                            <a:srgbClr val="162B42"/>
                          </a:solidFill>
                          <a:latin typeface="DejaVu Sans"/>
                        </a:defRPr>
                      </a:pPr>
                      <a:r>
                        <a:t>40</a:t>
                      </a:r>
                    </a:p>
                  </a:txBody>
                  <a:tcPr marL="73152" marR="73152" marT="50292" marB="0" anchor="t">
                    <a:solidFill>
                      <a:srgbClr val="FFFFFF"/>
                    </a:solidFill>
                  </a:tcPr>
                </a:tc>
              </a:tr>
            </a:tbl>
          </a:graphicData>
        </a:graphic>
      </p:graphicFrame>
      <p:sp>
        <p:nvSpPr>
          <p:cNvPr id="16" name="TextBox 15"/>
          <p:cNvSpPr txBox="1"/>
          <p:nvPr/>
        </p:nvSpPr>
        <p:spPr>
          <a:xfrm>
            <a:off x="594360" y="5806440"/>
            <a:ext cx="1097280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Only mature earlier labels enter annual fits; parameters stay fixed.</a:t>
            </a:r>
          </a:p>
        </p:txBody>
      </p:sp>
      <p:sp>
        <p:nvSpPr>
          <p:cNvPr id="17" name="TextBox 16"/>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8" name="TextBox 17"/>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Implementation and the matched benchmark</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Daily signals and valuation; continuous twenty-session target refreshes</a:t>
            </a:r>
          </a:p>
        </p:txBody>
      </p:sp>
      <p:sp>
        <p:nvSpPr>
          <p:cNvPr id="5" name="TextBox 4"/>
          <p:cNvSpPr txBox="1"/>
          <p:nvPr/>
        </p:nvSpPr>
        <p:spPr>
          <a:xfrm>
            <a:off x="594360" y="1673352"/>
            <a:ext cx="10972800" cy="402336"/>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Trade at the next open; keep the actual cash and blocked orders.</a:t>
            </a:r>
          </a:p>
        </p:txBody>
      </p:sp>
      <p:sp>
        <p:nvSpPr>
          <p:cNvPr id="6" name="Rounded Rectangle 5"/>
          <p:cNvSpPr/>
          <p:nvPr/>
        </p:nvSpPr>
        <p:spPr>
          <a:xfrm>
            <a:off x="502920" y="2267712"/>
            <a:ext cx="3566160" cy="308152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15968" y="2267712"/>
            <a:ext cx="3566160" cy="308152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29016" y="2267712"/>
            <a:ext cx="3566160" cy="308152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478024"/>
            <a:ext cx="3182112" cy="310896"/>
          </a:xfrm>
          <a:prstGeom prst="rect">
            <a:avLst/>
          </a:prstGeom>
          <a:noFill/>
        </p:spPr>
        <p:txBody>
          <a:bodyPr wrap="none" tIns="0" bIns="0" lIns="0" rIns="0" anchor="t">
            <a:spAutoFit/>
          </a:bodyPr>
          <a:lstStyle/>
          <a:p>
            <a:pPr algn="l">
              <a:lnSpc>
                <a:spcPts val="2016"/>
              </a:lnSpc>
              <a:spcBef>
                <a:spcPts val="0"/>
              </a:spcBef>
              <a:spcAft>
                <a:spcPts val="0"/>
              </a:spcAft>
              <a:defRPr sz="1800" b="1">
                <a:solidFill>
                  <a:srgbClr val="137F82"/>
                </a:solidFill>
                <a:latin typeface="DejaVu Sans"/>
              </a:defRPr>
            </a:pPr>
            <a:r>
              <a:t>PORTFOLIO &amp; TIMING</a:t>
            </a:r>
          </a:p>
        </p:txBody>
      </p:sp>
      <p:sp>
        <p:nvSpPr>
          <p:cNvPr id="10" name="TextBox 9"/>
          <p:cNvSpPr txBox="1"/>
          <p:nvPr/>
        </p:nvSpPr>
        <p:spPr>
          <a:xfrm>
            <a:off x="694944" y="2962656"/>
            <a:ext cx="3182112" cy="194767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Equal-weight Top 100</a:t>
            </a:r>
            <a:br/>
            <a:r>
              <a:t>Next-opening execution</a:t>
            </a:r>
            <a:br/>
            <a:r>
              <a:t>T+1 and price limits</a:t>
            </a:r>
            <a:br/>
            <a:r>
              <a:t>Blocked-order retries</a:t>
            </a:r>
          </a:p>
        </p:txBody>
      </p:sp>
      <p:sp>
        <p:nvSpPr>
          <p:cNvPr id="11" name="TextBox 10"/>
          <p:cNvSpPr txBox="1"/>
          <p:nvPr/>
        </p:nvSpPr>
        <p:spPr>
          <a:xfrm>
            <a:off x="4507992" y="2478024"/>
            <a:ext cx="3182112" cy="310896"/>
          </a:xfrm>
          <a:prstGeom prst="rect">
            <a:avLst/>
          </a:prstGeom>
          <a:noFill/>
        </p:spPr>
        <p:txBody>
          <a:bodyPr wrap="none" tIns="0" bIns="0" lIns="0" rIns="0" anchor="t">
            <a:spAutoFit/>
          </a:bodyPr>
          <a:lstStyle/>
          <a:p>
            <a:pPr algn="l">
              <a:lnSpc>
                <a:spcPts val="2016"/>
              </a:lnSpc>
              <a:spcBef>
                <a:spcPts val="0"/>
              </a:spcBef>
              <a:spcAft>
                <a:spcPts val="0"/>
              </a:spcAft>
              <a:defRPr sz="1800" b="1">
                <a:solidFill>
                  <a:srgbClr val="137F82"/>
                </a:solidFill>
                <a:latin typeface="DejaVu Sans"/>
              </a:defRPr>
            </a:pPr>
            <a:r>
              <a:t>MATCHED BENCHMARK</a:t>
            </a:r>
          </a:p>
        </p:txBody>
      </p:sp>
      <p:sp>
        <p:nvSpPr>
          <p:cNvPr id="12" name="TextBox 11"/>
          <p:cNvSpPr txBox="1"/>
          <p:nvPr/>
        </p:nvSpPr>
        <p:spPr>
          <a:xfrm>
            <a:off x="4507992" y="2962656"/>
            <a:ext cx="3182112" cy="194767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Same eligible stock pool</a:t>
            </a:r>
            <a:br/>
            <a:r>
              <a:t>Same twenty-day</a:t>
            </a:r>
            <a:br/>
            <a:r>
              <a:t>targets</a:t>
            </a:r>
            <a:br/>
            <a:r>
              <a:t>Same restrictions / costs</a:t>
            </a:r>
            <a:br/>
            <a:r>
              <a:t>CSI500 is auxiliary</a:t>
            </a:r>
          </a:p>
        </p:txBody>
      </p:sp>
      <p:sp>
        <p:nvSpPr>
          <p:cNvPr id="13" name="TextBox 12"/>
          <p:cNvSpPr txBox="1"/>
          <p:nvPr/>
        </p:nvSpPr>
        <p:spPr>
          <a:xfrm>
            <a:off x="8321040" y="2478024"/>
            <a:ext cx="3182112" cy="310896"/>
          </a:xfrm>
          <a:prstGeom prst="rect">
            <a:avLst/>
          </a:prstGeom>
          <a:noFill/>
        </p:spPr>
        <p:txBody>
          <a:bodyPr wrap="none" tIns="0" bIns="0" lIns="0" rIns="0" anchor="t">
            <a:spAutoFit/>
          </a:bodyPr>
          <a:lstStyle/>
          <a:p>
            <a:pPr algn="l">
              <a:lnSpc>
                <a:spcPts val="2016"/>
              </a:lnSpc>
              <a:spcBef>
                <a:spcPts val="0"/>
              </a:spcBef>
              <a:spcAft>
                <a:spcPts val="0"/>
              </a:spcAft>
              <a:defRPr sz="1800" b="1">
                <a:solidFill>
                  <a:srgbClr val="137F82"/>
                </a:solidFill>
                <a:latin typeface="DejaVu Sans"/>
              </a:defRPr>
            </a:pPr>
            <a:r>
              <a:t>TRADING FRICTIONS</a:t>
            </a:r>
          </a:p>
        </p:txBody>
      </p:sp>
      <p:sp>
        <p:nvSpPr>
          <p:cNvPr id="14" name="TextBox 13"/>
          <p:cNvSpPr txBox="1"/>
          <p:nvPr/>
        </p:nvSpPr>
        <p:spPr>
          <a:xfrm>
            <a:off x="8321040" y="2962656"/>
            <a:ext cx="3182112" cy="194767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Commission: 3 bp / side</a:t>
            </a:r>
            <a:br/>
            <a:r>
              <a:t>Slippage: 5 bp / side</a:t>
            </a:r>
            <a:br/>
            <a:r>
              <a:t>Sell stamp: 10 → 5 bp</a:t>
            </a:r>
            <a:br/>
            <a:r>
              <a:t>Change: 28 Aug 2023</a:t>
            </a:r>
          </a:p>
        </p:txBody>
      </p:sp>
      <p:sp>
        <p:nvSpPr>
          <p:cNvPr id="15" name="TextBox 14"/>
          <p:cNvSpPr txBox="1"/>
          <p:nvPr/>
        </p:nvSpPr>
        <p:spPr>
          <a:xfrm>
            <a:off x="594360" y="5650992"/>
            <a:ext cx="1097280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Twelve sourced corporate events use explicit claims and settlement dates.</a:t>
            </a:r>
          </a:p>
        </p:txBody>
      </p:sp>
      <p:sp>
        <p:nvSpPr>
          <p:cNvPr id="16" name="TextBox 15"/>
          <p:cNvSpPr txBox="1"/>
          <p:nvPr/>
        </p:nvSpPr>
        <p:spPr>
          <a:xfrm>
            <a:off x="594360" y="6153912"/>
            <a:ext cx="10972800" cy="219456"/>
          </a:xfrm>
          <a:prstGeom prst="rect">
            <a:avLst/>
          </a:prstGeom>
          <a:noFill/>
        </p:spPr>
        <p:txBody>
          <a:bodyPr wrap="none" tIns="0" bIns="0" lIns="0" rIns="0" anchor="t">
            <a:spAutoFit/>
          </a:bodyPr>
          <a:lstStyle/>
          <a:p>
            <a:pPr algn="l">
              <a:lnSpc>
                <a:spcPts val="1344"/>
              </a:lnSpc>
              <a:spcBef>
                <a:spcPts val="0"/>
              </a:spcBef>
              <a:spcAft>
                <a:spcPts val="0"/>
              </a:spcAft>
              <a:defRPr sz="1200" b="0">
                <a:solidFill>
                  <a:srgbClr val="657489"/>
                </a:solidFill>
                <a:latin typeface="DejaVu Sans"/>
              </a:defRPr>
            </a:pPr>
            <a:r>
              <a:t>Synthetic adjusted units approximate dividends; exact receipt taxes, board lots and market impact are omitted.</a:t>
            </a:r>
          </a:p>
        </p:txBody>
      </p:sp>
      <p:sp>
        <p:nvSpPr>
          <p:cNvPr id="17" name="TextBox 16"/>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8" name="TextBox 17"/>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Gross and net returns over the complete history</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2 Jan 2018 – 29 Apr 2026</a:t>
            </a:r>
          </a:p>
        </p:txBody>
      </p:sp>
      <p:sp>
        <p:nvSpPr>
          <p:cNvPr id="5" name="TextBox 4"/>
          <p:cNvSpPr txBox="1"/>
          <p:nvPr/>
        </p:nvSpPr>
        <p:spPr>
          <a:xfrm>
            <a:off x="594360" y="1627632"/>
            <a:ext cx="10972800" cy="228600"/>
          </a:xfrm>
          <a:prstGeom prst="rect">
            <a:avLst/>
          </a:prstGeom>
          <a:noFill/>
        </p:spPr>
        <p:txBody>
          <a:bodyPr wrap="none" tIns="0" bIns="0" lIns="0" rIns="0" anchor="t">
            <a:spAutoFit/>
          </a:bodyPr>
          <a:lstStyle/>
          <a:p>
            <a:pPr algn="l">
              <a:lnSpc>
                <a:spcPts val="1680"/>
              </a:lnSpc>
              <a:spcBef>
                <a:spcPts val="0"/>
              </a:spcBef>
              <a:spcAft>
                <a:spcPts val="0"/>
              </a:spcAft>
              <a:defRPr sz="1500" b="1">
                <a:solidFill>
                  <a:srgbClr val="162B42"/>
                </a:solidFill>
                <a:latin typeface="DejaVu Sans"/>
              </a:defRPr>
            </a:pPr>
            <a:r>
              <a:t>GROSS ABSOLUTE RETURN</a:t>
            </a:r>
          </a:p>
        </p:txBody>
      </p:sp>
      <p:pic>
        <p:nvPicPr>
          <p:cNvPr id="6" name="Picture 5" descr="gross_absolute_slide.png"/>
          <p:cNvPicPr>
            <a:picLocks noChangeAspect="1"/>
          </p:cNvPicPr>
          <p:nvPr/>
        </p:nvPicPr>
        <p:blipFill>
          <a:blip r:embed="rId2"/>
          <a:stretch>
            <a:fillRect/>
          </a:stretch>
        </p:blipFill>
        <p:spPr>
          <a:xfrm>
            <a:off x="502920" y="1874519"/>
            <a:ext cx="11109960" cy="1828800"/>
          </a:xfrm>
          <a:prstGeom prst="rect">
            <a:avLst/>
          </a:prstGeom>
        </p:spPr>
      </p:pic>
      <p:sp>
        <p:nvSpPr>
          <p:cNvPr id="7" name="TextBox 6"/>
          <p:cNvSpPr txBox="1"/>
          <p:nvPr/>
        </p:nvSpPr>
        <p:spPr>
          <a:xfrm>
            <a:off x="594360" y="3822191"/>
            <a:ext cx="10972800" cy="228600"/>
          </a:xfrm>
          <a:prstGeom prst="rect">
            <a:avLst/>
          </a:prstGeom>
          <a:noFill/>
        </p:spPr>
        <p:txBody>
          <a:bodyPr wrap="none" tIns="0" bIns="0" lIns="0" rIns="0" anchor="t">
            <a:spAutoFit/>
          </a:bodyPr>
          <a:lstStyle/>
          <a:p>
            <a:pPr algn="l">
              <a:lnSpc>
                <a:spcPts val="1680"/>
              </a:lnSpc>
              <a:spcBef>
                <a:spcPts val="0"/>
              </a:spcBef>
              <a:spcAft>
                <a:spcPts val="0"/>
              </a:spcAft>
              <a:defRPr sz="1500" b="1">
                <a:solidFill>
                  <a:srgbClr val="162B42"/>
                </a:solidFill>
                <a:latin typeface="DejaVu Sans"/>
              </a:defRPr>
            </a:pPr>
            <a:r>
              <a:t>NET ABSOLUTE RETURN</a:t>
            </a:r>
          </a:p>
        </p:txBody>
      </p:sp>
      <p:pic>
        <p:nvPicPr>
          <p:cNvPr id="8" name="Picture 7" descr="net_absolute_slide.png"/>
          <p:cNvPicPr>
            <a:picLocks noChangeAspect="1"/>
          </p:cNvPicPr>
          <p:nvPr/>
        </p:nvPicPr>
        <p:blipFill>
          <a:blip r:embed="rId3"/>
          <a:stretch>
            <a:fillRect/>
          </a:stretch>
        </p:blipFill>
        <p:spPr>
          <a:xfrm>
            <a:off x="502920" y="4069080"/>
            <a:ext cx="11109960" cy="1828800"/>
          </a:xfrm>
          <a:prstGeom prst="rect">
            <a:avLst/>
          </a:prstGeom>
        </p:spPr>
      </p:pic>
      <p:sp>
        <p:nvSpPr>
          <p:cNvPr id="9" name="TextBox 8"/>
          <p:cNvSpPr txBox="1"/>
          <p:nvPr/>
        </p:nvSpPr>
        <p:spPr>
          <a:xfrm>
            <a:off x="594360" y="6053328"/>
            <a:ext cx="10972800" cy="34747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Absolute wealth compounds daily returns; net books pay their own costs.</a:t>
            </a:r>
          </a:p>
        </p:txBody>
      </p:sp>
      <p:sp>
        <p:nvSpPr>
          <p:cNvPr id="10" name="TextBox 9"/>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1" name="TextBox 10"/>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Gross and net excess over the same-cost benchmark</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2 Jan 2018 – 29 Apr 2026</a:t>
            </a:r>
          </a:p>
        </p:txBody>
      </p:sp>
      <p:sp>
        <p:nvSpPr>
          <p:cNvPr id="5" name="TextBox 4"/>
          <p:cNvSpPr txBox="1"/>
          <p:nvPr/>
        </p:nvSpPr>
        <p:spPr>
          <a:xfrm>
            <a:off x="594360" y="1627632"/>
            <a:ext cx="10972800" cy="228600"/>
          </a:xfrm>
          <a:prstGeom prst="rect">
            <a:avLst/>
          </a:prstGeom>
          <a:noFill/>
        </p:spPr>
        <p:txBody>
          <a:bodyPr wrap="none" tIns="0" bIns="0" lIns="0" rIns="0" anchor="t">
            <a:spAutoFit/>
          </a:bodyPr>
          <a:lstStyle/>
          <a:p>
            <a:pPr algn="l">
              <a:lnSpc>
                <a:spcPts val="1680"/>
              </a:lnSpc>
              <a:spcBef>
                <a:spcPts val="0"/>
              </a:spcBef>
              <a:spcAft>
                <a:spcPts val="0"/>
              </a:spcAft>
              <a:defRPr sz="1500" b="1">
                <a:solidFill>
                  <a:srgbClr val="162B42"/>
                </a:solidFill>
                <a:latin typeface="DejaVu Sans"/>
              </a:defRPr>
            </a:pPr>
            <a:r>
              <a:t>GROSS CUMULATIVE DAILY EXCESS (pp)</a:t>
            </a:r>
          </a:p>
        </p:txBody>
      </p:sp>
      <p:pic>
        <p:nvPicPr>
          <p:cNvPr id="6" name="Picture 5" descr="gross_excess_slide.png"/>
          <p:cNvPicPr>
            <a:picLocks noChangeAspect="1"/>
          </p:cNvPicPr>
          <p:nvPr/>
        </p:nvPicPr>
        <p:blipFill>
          <a:blip r:embed="rId2"/>
          <a:stretch>
            <a:fillRect/>
          </a:stretch>
        </p:blipFill>
        <p:spPr>
          <a:xfrm>
            <a:off x="502920" y="1874519"/>
            <a:ext cx="11109960" cy="1828800"/>
          </a:xfrm>
          <a:prstGeom prst="rect">
            <a:avLst/>
          </a:prstGeom>
        </p:spPr>
      </p:pic>
      <p:sp>
        <p:nvSpPr>
          <p:cNvPr id="7" name="TextBox 6"/>
          <p:cNvSpPr txBox="1"/>
          <p:nvPr/>
        </p:nvSpPr>
        <p:spPr>
          <a:xfrm>
            <a:off x="594360" y="3822191"/>
            <a:ext cx="10972800" cy="228600"/>
          </a:xfrm>
          <a:prstGeom prst="rect">
            <a:avLst/>
          </a:prstGeom>
          <a:noFill/>
        </p:spPr>
        <p:txBody>
          <a:bodyPr wrap="none" tIns="0" bIns="0" lIns="0" rIns="0" anchor="t">
            <a:spAutoFit/>
          </a:bodyPr>
          <a:lstStyle/>
          <a:p>
            <a:pPr algn="l">
              <a:lnSpc>
                <a:spcPts val="1680"/>
              </a:lnSpc>
              <a:spcBef>
                <a:spcPts val="0"/>
              </a:spcBef>
              <a:spcAft>
                <a:spcPts val="0"/>
              </a:spcAft>
              <a:defRPr sz="1500" b="1">
                <a:solidFill>
                  <a:srgbClr val="162B42"/>
                </a:solidFill>
                <a:latin typeface="DejaVu Sans"/>
              </a:defRPr>
            </a:pPr>
            <a:r>
              <a:t>NET CUMULATIVE DAILY EXCESS (pp)</a:t>
            </a:r>
          </a:p>
        </p:txBody>
      </p:sp>
      <p:pic>
        <p:nvPicPr>
          <p:cNvPr id="8" name="Picture 7" descr="net_excess_slide.png"/>
          <p:cNvPicPr>
            <a:picLocks noChangeAspect="1"/>
          </p:cNvPicPr>
          <p:nvPr/>
        </p:nvPicPr>
        <p:blipFill>
          <a:blip r:embed="rId3"/>
          <a:stretch>
            <a:fillRect/>
          </a:stretch>
        </p:blipFill>
        <p:spPr>
          <a:xfrm>
            <a:off x="502920" y="4069080"/>
            <a:ext cx="11109960" cy="1828800"/>
          </a:xfrm>
          <a:prstGeom prst="rect">
            <a:avLst/>
          </a:prstGeom>
        </p:spPr>
      </p:pic>
      <p:sp>
        <p:nvSpPr>
          <p:cNvPr id="9" name="TextBox 8"/>
          <p:cNvSpPr txBox="1"/>
          <p:nvPr/>
        </p:nvSpPr>
        <p:spPr>
          <a:xfrm>
            <a:off x="594360" y="6053328"/>
            <a:ext cx="10972800" cy="34747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Excess sums daily return differences in percentage points.</a:t>
            </a:r>
          </a:p>
        </p:txBody>
      </p:sp>
      <p:sp>
        <p:nvSpPr>
          <p:cNvPr id="10" name="TextBox 9"/>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1" name="TextBox 10"/>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Higher return still comes with drawdown risk</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Net portfolios | 2 Jan 2018 – 29 Apr 2026</a:t>
            </a:r>
          </a:p>
        </p:txBody>
      </p:sp>
      <p:sp>
        <p:nvSpPr>
          <p:cNvPr id="5" name="TextBox 4"/>
          <p:cNvSpPr txBox="1"/>
          <p:nvPr/>
        </p:nvSpPr>
        <p:spPr>
          <a:xfrm>
            <a:off x="594360" y="1719072"/>
            <a:ext cx="7132320" cy="274320"/>
          </a:xfrm>
          <a:prstGeom prst="rect">
            <a:avLst/>
          </a:prstGeom>
          <a:noFill/>
        </p:spPr>
        <p:txBody>
          <a:bodyPr wrap="none" tIns="0" bIns="0" lIns="0" rIns="0" anchor="t">
            <a:spAutoFit/>
          </a:bodyPr>
          <a:lstStyle/>
          <a:p>
            <a:pPr algn="l">
              <a:lnSpc>
                <a:spcPts val="1792"/>
              </a:lnSpc>
              <a:spcBef>
                <a:spcPts val="0"/>
              </a:spcBef>
              <a:spcAft>
                <a:spcPts val="0"/>
              </a:spcAft>
              <a:defRPr sz="1600" b="1">
                <a:solidFill>
                  <a:srgbClr val="162B42"/>
                </a:solidFill>
                <a:latin typeface="DejaVu Sans"/>
              </a:defRPr>
            </a:pPr>
            <a:r>
              <a:t>PEAK-TO-TROUGH DRAWDOWN</a:t>
            </a:r>
          </a:p>
        </p:txBody>
      </p:sp>
      <p:sp>
        <p:nvSpPr>
          <p:cNvPr id="6" name="TextBox 5"/>
          <p:cNvSpPr txBox="1"/>
          <p:nvPr/>
        </p:nvSpPr>
        <p:spPr>
          <a:xfrm>
            <a:off x="8211312" y="1719072"/>
            <a:ext cx="3474720" cy="274320"/>
          </a:xfrm>
          <a:prstGeom prst="rect">
            <a:avLst/>
          </a:prstGeom>
          <a:noFill/>
        </p:spPr>
        <p:txBody>
          <a:bodyPr wrap="none" tIns="0" bIns="0" lIns="0" rIns="0" anchor="t">
            <a:spAutoFit/>
          </a:bodyPr>
          <a:lstStyle/>
          <a:p>
            <a:pPr algn="l">
              <a:lnSpc>
                <a:spcPts val="1680"/>
              </a:lnSpc>
              <a:spcBef>
                <a:spcPts val="0"/>
              </a:spcBef>
              <a:spcAft>
                <a:spcPts val="0"/>
              </a:spcAft>
              <a:defRPr sz="1500" b="1">
                <a:solidFill>
                  <a:srgbClr val="162B42"/>
                </a:solidFill>
                <a:latin typeface="DejaVu Sans"/>
              </a:defRPr>
            </a:pPr>
            <a:r>
              <a:t>RETURN AND VOLATILITY</a:t>
            </a:r>
          </a:p>
        </p:txBody>
      </p:sp>
      <p:pic>
        <p:nvPicPr>
          <p:cNvPr id="7" name="Picture 6" descr="drawdown_slide.png"/>
          <p:cNvPicPr>
            <a:picLocks noChangeAspect="1"/>
          </p:cNvPicPr>
          <p:nvPr/>
        </p:nvPicPr>
        <p:blipFill>
          <a:blip r:embed="rId2"/>
          <a:stretch>
            <a:fillRect/>
          </a:stretch>
        </p:blipFill>
        <p:spPr>
          <a:xfrm>
            <a:off x="502920" y="2084831"/>
            <a:ext cx="7315200" cy="3383280"/>
          </a:xfrm>
          <a:prstGeom prst="rect">
            <a:avLst/>
          </a:prstGeom>
        </p:spPr>
      </p:pic>
      <p:pic>
        <p:nvPicPr>
          <p:cNvPr id="8" name="Picture 7" descr="risk_return_slide.png"/>
          <p:cNvPicPr>
            <a:picLocks noChangeAspect="1"/>
          </p:cNvPicPr>
          <p:nvPr/>
        </p:nvPicPr>
        <p:blipFill>
          <a:blip r:embed="rId3"/>
          <a:stretch>
            <a:fillRect/>
          </a:stretch>
        </p:blipFill>
        <p:spPr>
          <a:xfrm>
            <a:off x="8211312" y="2084831"/>
            <a:ext cx="3474720" cy="3383280"/>
          </a:xfrm>
          <a:prstGeom prst="rect">
            <a:avLst/>
          </a:prstGeom>
        </p:spPr>
      </p:pic>
      <p:sp>
        <p:nvSpPr>
          <p:cNvPr id="9" name="TextBox 8"/>
          <p:cNvSpPr txBox="1"/>
          <p:nvPr/>
        </p:nvSpPr>
        <p:spPr>
          <a:xfrm>
            <a:off x="594360" y="5806440"/>
            <a:ext cx="1097280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Ridge worst drawdown: -33.0%; benchmark: -32.4%.</a:t>
            </a:r>
          </a:p>
        </p:txBody>
      </p:sp>
      <p:sp>
        <p:nvSpPr>
          <p:cNvPr id="10" name="TextBox 9"/>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1" name="TextBox 10"/>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Excess varies across months and calendar years</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Monthly daily-excess sums and annual compounded net returns | 2026 through 29 Apr 2026</a:t>
            </a:r>
          </a:p>
        </p:txBody>
      </p:sp>
      <p:sp>
        <p:nvSpPr>
          <p:cNvPr id="5" name="TextBox 4"/>
          <p:cNvSpPr txBox="1"/>
          <p:nvPr/>
        </p:nvSpPr>
        <p:spPr>
          <a:xfrm>
            <a:off x="594360" y="1719072"/>
            <a:ext cx="7132320" cy="274320"/>
          </a:xfrm>
          <a:prstGeom prst="rect">
            <a:avLst/>
          </a:prstGeom>
          <a:noFill/>
        </p:spPr>
        <p:txBody>
          <a:bodyPr wrap="none" tIns="0" bIns="0" lIns="0" rIns="0" anchor="t">
            <a:spAutoFit/>
          </a:bodyPr>
          <a:lstStyle/>
          <a:p>
            <a:pPr algn="l">
              <a:lnSpc>
                <a:spcPts val="1792"/>
              </a:lnSpc>
              <a:spcBef>
                <a:spcPts val="0"/>
              </a:spcBef>
              <a:spcAft>
                <a:spcPts val="0"/>
              </a:spcAft>
              <a:defRPr sz="1600" b="1">
                <a:solidFill>
                  <a:srgbClr val="162B42"/>
                </a:solidFill>
                <a:latin typeface="DejaVu Sans"/>
              </a:defRPr>
            </a:pPr>
            <a:r>
              <a:t>MONTHLY NET EXCESS · pp</a:t>
            </a:r>
          </a:p>
        </p:txBody>
      </p:sp>
      <p:sp>
        <p:nvSpPr>
          <p:cNvPr id="6" name="TextBox 5"/>
          <p:cNvSpPr txBox="1"/>
          <p:nvPr/>
        </p:nvSpPr>
        <p:spPr>
          <a:xfrm>
            <a:off x="8211312" y="1719072"/>
            <a:ext cx="3474720" cy="274320"/>
          </a:xfrm>
          <a:prstGeom prst="rect">
            <a:avLst/>
          </a:prstGeom>
          <a:noFill/>
        </p:spPr>
        <p:txBody>
          <a:bodyPr wrap="none" tIns="0" bIns="0" lIns="0" rIns="0" anchor="t">
            <a:spAutoFit/>
          </a:bodyPr>
          <a:lstStyle/>
          <a:p>
            <a:pPr algn="l">
              <a:lnSpc>
                <a:spcPts val="1680"/>
              </a:lnSpc>
              <a:spcBef>
                <a:spcPts val="0"/>
              </a:spcBef>
              <a:spcAft>
                <a:spcPts val="0"/>
              </a:spcAft>
              <a:defRPr sz="1500" b="1">
                <a:solidFill>
                  <a:srgbClr val="162B42"/>
                </a:solidFill>
                <a:latin typeface="DejaVu Sans"/>
              </a:defRPr>
            </a:pPr>
            <a:r>
              <a:t>CALENDAR-YEAR NET RETURN</a:t>
            </a:r>
          </a:p>
        </p:txBody>
      </p:sp>
      <p:pic>
        <p:nvPicPr>
          <p:cNvPr id="7" name="Picture 6" descr="calendar_excess_slide.png"/>
          <p:cNvPicPr>
            <a:picLocks noChangeAspect="1"/>
          </p:cNvPicPr>
          <p:nvPr/>
        </p:nvPicPr>
        <p:blipFill>
          <a:blip r:embed="rId2"/>
          <a:stretch>
            <a:fillRect/>
          </a:stretch>
        </p:blipFill>
        <p:spPr>
          <a:xfrm>
            <a:off x="502920" y="2084831"/>
            <a:ext cx="7315200" cy="3337560"/>
          </a:xfrm>
          <a:prstGeom prst="rect">
            <a:avLst/>
          </a:prstGeom>
        </p:spPr>
      </p:pic>
      <p:pic>
        <p:nvPicPr>
          <p:cNvPr id="8" name="Picture 7" descr="annual_return_slide.png"/>
          <p:cNvPicPr>
            <a:picLocks noChangeAspect="1"/>
          </p:cNvPicPr>
          <p:nvPr/>
        </p:nvPicPr>
        <p:blipFill>
          <a:blip r:embed="rId3"/>
          <a:stretch>
            <a:fillRect/>
          </a:stretch>
        </p:blipFill>
        <p:spPr>
          <a:xfrm>
            <a:off x="8211312" y="2084831"/>
            <a:ext cx="3474720" cy="3337560"/>
          </a:xfrm>
          <a:prstGeom prst="rect">
            <a:avLst/>
          </a:prstGeom>
        </p:spPr>
      </p:pic>
      <p:sp>
        <p:nvSpPr>
          <p:cNvPr id="9" name="TextBox 8"/>
          <p:cNvSpPr txBox="1"/>
          <p:nvPr/>
        </p:nvSpPr>
        <p:spPr>
          <a:xfrm>
            <a:off x="594360" y="5806440"/>
            <a:ext cx="1097280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Latest-year net excess: +0.56 pp; individual months can lag.</a:t>
            </a:r>
          </a:p>
        </p:txBody>
      </p:sp>
      <p:sp>
        <p:nvSpPr>
          <p:cNvPr id="10" name="TextBox 9"/>
          <p:cNvSpPr txBox="1"/>
          <p:nvPr/>
        </p:nvSpPr>
        <p:spPr>
          <a:xfrm>
            <a:off x="8211312" y="5468112"/>
            <a:ext cx="3474720" cy="347472"/>
          </a:xfrm>
          <a:prstGeom prst="rect">
            <a:avLst/>
          </a:prstGeom>
          <a:noFill/>
        </p:spPr>
        <p:txBody>
          <a:bodyPr wrap="none" tIns="0" bIns="0" lIns="0" rIns="0" anchor="t">
            <a:spAutoFit/>
          </a:bodyPr>
          <a:lstStyle/>
          <a:p>
            <a:pPr algn="l">
              <a:lnSpc>
                <a:spcPts val="1344"/>
              </a:lnSpc>
              <a:spcBef>
                <a:spcPts val="0"/>
              </a:spcBef>
              <a:spcAft>
                <a:spcPts val="0"/>
              </a:spcAft>
              <a:defRPr sz="1200" b="0">
                <a:solidFill>
                  <a:srgbClr val="657489"/>
                </a:solidFill>
                <a:latin typeface="DejaVu Sans"/>
              </a:defRPr>
            </a:pPr>
            <a:r>
              <a:t>2026 is incomplete; future months are blank</a:t>
            </a:r>
            <a:br/>
            <a:r>
              <a:t>rather than zero.</a:t>
            </a:r>
          </a:p>
        </p:txBody>
      </p:sp>
      <p:sp>
        <p:nvSpPr>
          <p:cNvPr id="11" name="TextBox 10"/>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2" name="TextBox 11"/>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Rolling windows show changes in return and risk</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252-session windows | 2 Jan 2018 – 29 Apr 2026</a:t>
            </a:r>
          </a:p>
        </p:txBody>
      </p:sp>
      <p:sp>
        <p:nvSpPr>
          <p:cNvPr id="5" name="TextBox 4"/>
          <p:cNvSpPr txBox="1"/>
          <p:nvPr/>
        </p:nvSpPr>
        <p:spPr>
          <a:xfrm>
            <a:off x="594360" y="1627632"/>
            <a:ext cx="10972800" cy="228600"/>
          </a:xfrm>
          <a:prstGeom prst="rect">
            <a:avLst/>
          </a:prstGeom>
          <a:noFill/>
        </p:spPr>
        <p:txBody>
          <a:bodyPr wrap="none" tIns="0" bIns="0" lIns="0" rIns="0" anchor="t">
            <a:spAutoFit/>
          </a:bodyPr>
          <a:lstStyle/>
          <a:p>
            <a:pPr algn="l">
              <a:lnSpc>
                <a:spcPts val="1680"/>
              </a:lnSpc>
              <a:spcBef>
                <a:spcPts val="0"/>
              </a:spcBef>
              <a:spcAft>
                <a:spcPts val="0"/>
              </a:spcAft>
              <a:defRPr sz="1500" b="1">
                <a:solidFill>
                  <a:srgbClr val="162B42"/>
                </a:solidFill>
                <a:latin typeface="DejaVu Sans"/>
              </a:defRPr>
            </a:pPr>
            <a:r>
              <a:t>252-SESSION NET EXCESS (pp)</a:t>
            </a:r>
          </a:p>
        </p:txBody>
      </p:sp>
      <p:pic>
        <p:nvPicPr>
          <p:cNvPr id="6" name="Picture 5" descr="rolling_excess_slide.png"/>
          <p:cNvPicPr>
            <a:picLocks noChangeAspect="1"/>
          </p:cNvPicPr>
          <p:nvPr/>
        </p:nvPicPr>
        <p:blipFill>
          <a:blip r:embed="rId2"/>
          <a:stretch>
            <a:fillRect/>
          </a:stretch>
        </p:blipFill>
        <p:spPr>
          <a:xfrm>
            <a:off x="502920" y="1874519"/>
            <a:ext cx="11109960" cy="1828800"/>
          </a:xfrm>
          <a:prstGeom prst="rect">
            <a:avLst/>
          </a:prstGeom>
        </p:spPr>
      </p:pic>
      <p:sp>
        <p:nvSpPr>
          <p:cNvPr id="7" name="TextBox 6"/>
          <p:cNvSpPr txBox="1"/>
          <p:nvPr/>
        </p:nvSpPr>
        <p:spPr>
          <a:xfrm>
            <a:off x="594360" y="3822191"/>
            <a:ext cx="10972800" cy="228600"/>
          </a:xfrm>
          <a:prstGeom prst="rect">
            <a:avLst/>
          </a:prstGeom>
          <a:noFill/>
        </p:spPr>
        <p:txBody>
          <a:bodyPr wrap="none" tIns="0" bIns="0" lIns="0" rIns="0" anchor="t">
            <a:spAutoFit/>
          </a:bodyPr>
          <a:lstStyle/>
          <a:p>
            <a:pPr algn="l">
              <a:lnSpc>
                <a:spcPts val="1680"/>
              </a:lnSpc>
              <a:spcBef>
                <a:spcPts val="0"/>
              </a:spcBef>
              <a:spcAft>
                <a:spcPts val="0"/>
              </a:spcAft>
              <a:defRPr sz="1500" b="1">
                <a:solidFill>
                  <a:srgbClr val="162B42"/>
                </a:solidFill>
                <a:latin typeface="DejaVu Sans"/>
              </a:defRPr>
            </a:pPr>
            <a:r>
              <a:t>252-SESSION ANNUALIZED NET VOLATILITY (%)</a:t>
            </a:r>
          </a:p>
        </p:txBody>
      </p:sp>
      <p:pic>
        <p:nvPicPr>
          <p:cNvPr id="8" name="Picture 7" descr="rolling_vol_slide.png"/>
          <p:cNvPicPr>
            <a:picLocks noChangeAspect="1"/>
          </p:cNvPicPr>
          <p:nvPr/>
        </p:nvPicPr>
        <p:blipFill>
          <a:blip r:embed="rId3"/>
          <a:stretch>
            <a:fillRect/>
          </a:stretch>
        </p:blipFill>
        <p:spPr>
          <a:xfrm>
            <a:off x="502920" y="4069080"/>
            <a:ext cx="11109960" cy="1828800"/>
          </a:xfrm>
          <a:prstGeom prst="rect">
            <a:avLst/>
          </a:prstGeom>
        </p:spPr>
      </p:pic>
      <p:sp>
        <p:nvSpPr>
          <p:cNvPr id="9" name="TextBox 8"/>
          <p:cNvSpPr txBox="1"/>
          <p:nvPr/>
        </p:nvSpPr>
        <p:spPr>
          <a:xfrm>
            <a:off x="594360" y="6053328"/>
            <a:ext cx="10972800" cy="34747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Relative performance and volatility change through time.</a:t>
            </a:r>
          </a:p>
        </p:txBody>
      </p:sp>
      <p:sp>
        <p:nvSpPr>
          <p:cNvPr id="10" name="TextBox 9"/>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1" name="TextBox 10"/>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Turnover and trading costs remain material</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2 Jan 2018 – 29 Apr 2026</a:t>
            </a:r>
          </a:p>
        </p:txBody>
      </p:sp>
      <p:sp>
        <p:nvSpPr>
          <p:cNvPr id="5" name="TextBox 4"/>
          <p:cNvSpPr txBox="1"/>
          <p:nvPr/>
        </p:nvSpPr>
        <p:spPr>
          <a:xfrm>
            <a:off x="594360" y="1627632"/>
            <a:ext cx="10972800" cy="228600"/>
          </a:xfrm>
          <a:prstGeom prst="rect">
            <a:avLst/>
          </a:prstGeom>
          <a:noFill/>
        </p:spPr>
        <p:txBody>
          <a:bodyPr wrap="none" tIns="0" bIns="0" lIns="0" rIns="0" anchor="t">
            <a:spAutoFit/>
          </a:bodyPr>
          <a:lstStyle/>
          <a:p>
            <a:pPr algn="l">
              <a:lnSpc>
                <a:spcPts val="1680"/>
              </a:lnSpc>
              <a:spcBef>
                <a:spcPts val="0"/>
              </a:spcBef>
              <a:spcAft>
                <a:spcPts val="0"/>
              </a:spcAft>
              <a:defRPr sz="1500" b="1">
                <a:solidFill>
                  <a:srgbClr val="162B42"/>
                </a:solidFill>
                <a:latin typeface="DejaVu Sans"/>
              </a:defRPr>
            </a:pPr>
            <a:r>
              <a:t>MONTHLY TURNOVER</a:t>
            </a:r>
          </a:p>
        </p:txBody>
      </p:sp>
      <p:pic>
        <p:nvPicPr>
          <p:cNvPr id="6" name="Picture 5" descr="turnover_slide.png"/>
          <p:cNvPicPr>
            <a:picLocks noChangeAspect="1"/>
          </p:cNvPicPr>
          <p:nvPr/>
        </p:nvPicPr>
        <p:blipFill>
          <a:blip r:embed="rId2"/>
          <a:stretch>
            <a:fillRect/>
          </a:stretch>
        </p:blipFill>
        <p:spPr>
          <a:xfrm>
            <a:off x="502920" y="1874519"/>
            <a:ext cx="11109960" cy="1828800"/>
          </a:xfrm>
          <a:prstGeom prst="rect">
            <a:avLst/>
          </a:prstGeom>
        </p:spPr>
      </p:pic>
      <p:sp>
        <p:nvSpPr>
          <p:cNvPr id="7" name="TextBox 6"/>
          <p:cNvSpPr txBox="1"/>
          <p:nvPr/>
        </p:nvSpPr>
        <p:spPr>
          <a:xfrm>
            <a:off x="594360" y="3822191"/>
            <a:ext cx="10972800" cy="228600"/>
          </a:xfrm>
          <a:prstGeom prst="rect">
            <a:avLst/>
          </a:prstGeom>
          <a:noFill/>
        </p:spPr>
        <p:txBody>
          <a:bodyPr wrap="none" tIns="0" bIns="0" lIns="0" rIns="0" anchor="t">
            <a:spAutoFit/>
          </a:bodyPr>
          <a:lstStyle/>
          <a:p>
            <a:pPr algn="l">
              <a:lnSpc>
                <a:spcPts val="1680"/>
              </a:lnSpc>
              <a:spcBef>
                <a:spcPts val="0"/>
              </a:spcBef>
              <a:spcAft>
                <a:spcPts val="0"/>
              </a:spcAft>
              <a:defRPr sz="1500" b="1">
                <a:solidFill>
                  <a:srgbClr val="162B42"/>
                </a:solidFill>
                <a:latin typeface="DejaVu Sans"/>
              </a:defRPr>
            </a:pPr>
            <a:r>
              <a:t>COST COMPONENTS · SUM OF DAILY OPENING-NAV RATIOS, pp</a:t>
            </a:r>
          </a:p>
        </p:txBody>
      </p:sp>
      <p:pic>
        <p:nvPicPr>
          <p:cNvPr id="8" name="Picture 7" descr="costs_slide.png"/>
          <p:cNvPicPr>
            <a:picLocks noChangeAspect="1"/>
          </p:cNvPicPr>
          <p:nvPr/>
        </p:nvPicPr>
        <p:blipFill>
          <a:blip r:embed="rId3"/>
          <a:stretch>
            <a:fillRect/>
          </a:stretch>
        </p:blipFill>
        <p:spPr>
          <a:xfrm>
            <a:off x="502920" y="4069080"/>
            <a:ext cx="11109960" cy="1828800"/>
          </a:xfrm>
          <a:prstGeom prst="rect">
            <a:avLst/>
          </a:prstGeom>
        </p:spPr>
      </p:pic>
      <p:sp>
        <p:nvSpPr>
          <p:cNvPr id="9" name="TextBox 8"/>
          <p:cNvSpPr txBox="1"/>
          <p:nvPr/>
        </p:nvSpPr>
        <p:spPr>
          <a:xfrm>
            <a:off x="594360" y="6053328"/>
            <a:ext cx="10972800" cy="34747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Costs alter cash, holdings and future returns in the net ledger.</a:t>
            </a:r>
          </a:p>
        </p:txBody>
      </p:sp>
      <p:sp>
        <p:nvSpPr>
          <p:cNvPr id="10" name="TextBox 9"/>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1" name="TextBox 10"/>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Signal diagnostics reveal overlap and instability</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Used-input dependence and cross-sectional prediction quality are different questions</a:t>
            </a:r>
          </a:p>
        </p:txBody>
      </p:sp>
      <p:sp>
        <p:nvSpPr>
          <p:cNvPr id="5" name="TextBox 4"/>
          <p:cNvSpPr txBox="1"/>
          <p:nvPr/>
        </p:nvSpPr>
        <p:spPr>
          <a:xfrm>
            <a:off x="594360" y="1682496"/>
            <a:ext cx="7132320" cy="274320"/>
          </a:xfrm>
          <a:prstGeom prst="rect">
            <a:avLst/>
          </a:prstGeom>
          <a:noFill/>
        </p:spPr>
        <p:txBody>
          <a:bodyPr wrap="none" tIns="0" bIns="0" lIns="0" rIns="0" anchor="t">
            <a:spAutoFit/>
          </a:bodyPr>
          <a:lstStyle/>
          <a:p>
            <a:pPr algn="l">
              <a:lnSpc>
                <a:spcPts val="1680"/>
              </a:lnSpc>
              <a:spcBef>
                <a:spcPts val="0"/>
              </a:spcBef>
              <a:spcAft>
                <a:spcPts val="0"/>
              </a:spcAft>
              <a:defRPr sz="1500" b="1">
                <a:solidFill>
                  <a:srgbClr val="162B42"/>
                </a:solidFill>
                <a:latin typeface="DejaVu Sans"/>
              </a:defRPr>
            </a:pPr>
            <a:r>
              <a:t>12 USED INPUTS · CORRELATION 2021–2025</a:t>
            </a:r>
          </a:p>
        </p:txBody>
      </p:sp>
      <p:sp>
        <p:nvSpPr>
          <p:cNvPr id="6" name="TextBox 5"/>
          <p:cNvSpPr txBox="1"/>
          <p:nvPr/>
        </p:nvSpPr>
        <p:spPr>
          <a:xfrm>
            <a:off x="8211312" y="1682496"/>
            <a:ext cx="3474720" cy="274320"/>
          </a:xfrm>
          <a:prstGeom prst="rect">
            <a:avLst/>
          </a:prstGeom>
          <a:noFill/>
        </p:spPr>
        <p:txBody>
          <a:bodyPr wrap="none" tIns="0" bIns="0" lIns="0" rIns="0" anchor="t">
            <a:spAutoFit/>
          </a:bodyPr>
          <a:lstStyle/>
          <a:p>
            <a:pPr algn="l">
              <a:lnSpc>
                <a:spcPts val="1792"/>
              </a:lnSpc>
              <a:spcBef>
                <a:spcPts val="0"/>
              </a:spcBef>
              <a:spcAft>
                <a:spcPts val="0"/>
              </a:spcAft>
              <a:defRPr sz="1600" b="1">
                <a:solidFill>
                  <a:srgbClr val="162B42"/>
                </a:solidFill>
                <a:latin typeface="DejaVu Sans"/>
              </a:defRPr>
            </a:pPr>
            <a:r>
              <a:t>ANNUAL RANK IC</a:t>
            </a:r>
          </a:p>
        </p:txBody>
      </p:sp>
      <p:pic>
        <p:nvPicPr>
          <p:cNvPr id="7" name="Picture 6" descr="factor_corr_slide.png"/>
          <p:cNvPicPr>
            <a:picLocks noChangeAspect="1"/>
          </p:cNvPicPr>
          <p:nvPr/>
        </p:nvPicPr>
        <p:blipFill>
          <a:blip r:embed="rId2"/>
          <a:stretch>
            <a:fillRect/>
          </a:stretch>
        </p:blipFill>
        <p:spPr>
          <a:xfrm>
            <a:off x="502920" y="2020824"/>
            <a:ext cx="7315200" cy="3657600"/>
          </a:xfrm>
          <a:prstGeom prst="rect">
            <a:avLst/>
          </a:prstGeom>
        </p:spPr>
      </p:pic>
      <p:pic>
        <p:nvPicPr>
          <p:cNvPr id="8" name="Picture 7" descr="rank_ic_slide.png"/>
          <p:cNvPicPr>
            <a:picLocks noChangeAspect="1"/>
          </p:cNvPicPr>
          <p:nvPr/>
        </p:nvPicPr>
        <p:blipFill>
          <a:blip r:embed="rId3"/>
          <a:stretch>
            <a:fillRect/>
          </a:stretch>
        </p:blipFill>
        <p:spPr>
          <a:xfrm>
            <a:off x="8211312" y="2020824"/>
            <a:ext cx="3474720" cy="3657600"/>
          </a:xfrm>
          <a:prstGeom prst="rect">
            <a:avLst/>
          </a:prstGeom>
        </p:spPr>
      </p:pic>
      <p:sp>
        <p:nvSpPr>
          <p:cNvPr id="9" name="TextBox 8"/>
          <p:cNvSpPr txBox="1"/>
          <p:nvPr/>
        </p:nvSpPr>
        <p:spPr>
          <a:xfrm>
            <a:off x="594360" y="5879592"/>
            <a:ext cx="10972800" cy="39319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Signal correlation and IC do not establish a tradable net return.</a:t>
            </a:r>
          </a:p>
        </p:txBody>
      </p:sp>
      <p:sp>
        <p:nvSpPr>
          <p:cNvPr id="10" name="TextBox 9"/>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1" name="TextBox 10"/>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Do the highest scores identify stronger return cohorts?</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Mean 20-session same-pool excess (pp), before costs | overlapping cohorts</a:t>
            </a:r>
          </a:p>
        </p:txBody>
      </p:sp>
      <p:sp>
        <p:nvSpPr>
          <p:cNvPr id="5" name="TextBox 4"/>
          <p:cNvSpPr txBox="1"/>
          <p:nvPr/>
        </p:nvSpPr>
        <p:spPr>
          <a:xfrm>
            <a:off x="594360" y="1719072"/>
            <a:ext cx="530352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62B42"/>
                </a:solidFill>
                <a:latin typeface="DejaVu Sans"/>
              </a:defRPr>
            </a:pPr>
            <a:r>
              <a:t>2021–2025</a:t>
            </a:r>
          </a:p>
        </p:txBody>
      </p:sp>
      <p:sp>
        <p:nvSpPr>
          <p:cNvPr id="6" name="TextBox 5"/>
          <p:cNvSpPr txBox="1"/>
          <p:nvPr/>
        </p:nvSpPr>
        <p:spPr>
          <a:xfrm>
            <a:off x="6309360" y="1719072"/>
            <a:ext cx="539496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62B42"/>
                </a:solidFill>
                <a:latin typeface="DejaVu Sans"/>
              </a:defRPr>
            </a:pPr>
            <a:r>
              <a:t>2026 · MATURE LABELS ONLY</a:t>
            </a:r>
          </a:p>
        </p:txBody>
      </p:sp>
      <p:pic>
        <p:nvPicPr>
          <p:cNvPr id="7" name="Picture 6" descr="quintile_slide.png"/>
          <p:cNvPicPr>
            <a:picLocks noChangeAspect="1"/>
          </p:cNvPicPr>
          <p:nvPr/>
        </p:nvPicPr>
        <p:blipFill>
          <a:blip r:embed="rId2"/>
          <a:stretch>
            <a:fillRect/>
          </a:stretch>
        </p:blipFill>
        <p:spPr>
          <a:xfrm>
            <a:off x="502920" y="2084831"/>
            <a:ext cx="5394960" cy="3291840"/>
          </a:xfrm>
          <a:prstGeom prst="rect">
            <a:avLst/>
          </a:prstGeom>
        </p:spPr>
      </p:pic>
      <p:pic>
        <p:nvPicPr>
          <p:cNvPr id="8" name="Picture 7" descr="quintile_2026_slide.png"/>
          <p:cNvPicPr>
            <a:picLocks noChangeAspect="1"/>
          </p:cNvPicPr>
          <p:nvPr/>
        </p:nvPicPr>
        <p:blipFill>
          <a:blip r:embed="rId3"/>
          <a:stretch>
            <a:fillRect/>
          </a:stretch>
        </p:blipFill>
        <p:spPr>
          <a:xfrm>
            <a:off x="6309360" y="2084831"/>
            <a:ext cx="5394960" cy="3291840"/>
          </a:xfrm>
          <a:prstGeom prst="rect">
            <a:avLst/>
          </a:prstGeom>
        </p:spPr>
      </p:pic>
      <p:sp>
        <p:nvSpPr>
          <p:cNvPr id="9" name="TextBox 8"/>
          <p:cNvSpPr txBox="1"/>
          <p:nvPr/>
        </p:nvSpPr>
        <p:spPr>
          <a:xfrm>
            <a:off x="594360" y="5650992"/>
            <a:ext cx="1097280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Higher scores need not produce a monotone return pattern in every period.</a:t>
            </a:r>
          </a:p>
        </p:txBody>
      </p:sp>
      <p:sp>
        <p:nvSpPr>
          <p:cNvPr id="10" name="TextBox 9"/>
          <p:cNvSpPr txBox="1"/>
          <p:nvPr/>
        </p:nvSpPr>
        <p:spPr>
          <a:xfrm>
            <a:off x="594360" y="6163056"/>
            <a:ext cx="10972800" cy="210312"/>
          </a:xfrm>
          <a:prstGeom prst="rect">
            <a:avLst/>
          </a:prstGeom>
          <a:noFill/>
        </p:spPr>
        <p:txBody>
          <a:bodyPr wrap="none" tIns="0" bIns="0" lIns="0" rIns="0" anchor="t">
            <a:spAutoFit/>
          </a:bodyPr>
          <a:lstStyle/>
          <a:p>
            <a:pPr algn="l">
              <a:lnSpc>
                <a:spcPts val="1344"/>
              </a:lnSpc>
              <a:spcBef>
                <a:spcPts val="0"/>
              </a:spcBef>
              <a:spcAft>
                <a:spcPts val="0"/>
              </a:spcAft>
              <a:defRPr sz="1200" b="0">
                <a:solidFill>
                  <a:srgbClr val="657489"/>
                </a:solidFill>
                <a:latin typeface="DejaVu Sans"/>
              </a:defRPr>
            </a:pPr>
            <a:r>
              <a:t>Group 1 = low, group 5 = high. Last mature signal: 30 Mar 2026.</a:t>
            </a:r>
          </a:p>
        </p:txBody>
      </p:sp>
      <p:sp>
        <p:nvSpPr>
          <p:cNvPr id="11" name="TextBox 10"/>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2" name="TextBox 11"/>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Controls expose the effect of implementation choices</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Same opportunity set and stated costs; retain weaker comparisons</a:t>
            </a:r>
          </a:p>
        </p:txBody>
      </p:sp>
      <p:sp>
        <p:nvSpPr>
          <p:cNvPr id="5" name="TextBox 4"/>
          <p:cNvSpPr txBox="1"/>
          <p:nvPr/>
        </p:nvSpPr>
        <p:spPr>
          <a:xfrm>
            <a:off x="594360" y="1719072"/>
            <a:ext cx="713232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162B42"/>
                </a:solidFill>
                <a:latin typeface="DejaVu Sans"/>
              </a:defRPr>
            </a:pPr>
            <a:r>
              <a:t>RAW / ADOPTED AND DAILY / TWENTY-SESSION CONTROLS</a:t>
            </a:r>
          </a:p>
        </p:txBody>
      </p:sp>
      <p:sp>
        <p:nvSpPr>
          <p:cNvPr id="6" name="TextBox 5"/>
          <p:cNvSpPr txBox="1"/>
          <p:nvPr/>
        </p:nvSpPr>
        <p:spPr>
          <a:xfrm>
            <a:off x="8211312" y="1719072"/>
            <a:ext cx="347472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162B42"/>
                </a:solidFill>
                <a:latin typeface="DejaVu Sans"/>
              </a:defRPr>
            </a:pPr>
            <a:r>
              <a:t>2026 THROUGH 29 APR 2026</a:t>
            </a:r>
          </a:p>
        </p:txBody>
      </p:sp>
      <p:pic>
        <p:nvPicPr>
          <p:cNvPr id="7" name="Picture 6" descr="controls_slide.png"/>
          <p:cNvPicPr>
            <a:picLocks noChangeAspect="1"/>
          </p:cNvPicPr>
          <p:nvPr/>
        </p:nvPicPr>
        <p:blipFill>
          <a:blip r:embed="rId2"/>
          <a:stretch>
            <a:fillRect/>
          </a:stretch>
        </p:blipFill>
        <p:spPr>
          <a:xfrm>
            <a:off x="502920" y="2084831"/>
            <a:ext cx="7315200" cy="3383280"/>
          </a:xfrm>
          <a:prstGeom prst="rect">
            <a:avLst/>
          </a:prstGeom>
        </p:spPr>
      </p:pic>
      <p:graphicFrame>
        <p:nvGraphicFramePr>
          <p:cNvPr id="8" name="Table 7"/>
          <p:cNvGraphicFramePr>
            <a:graphicFrameLocks noGrp="1"/>
          </p:cNvGraphicFramePr>
          <p:nvPr/>
        </p:nvGraphicFramePr>
        <p:xfrm>
          <a:off x="8211312" y="2212848"/>
          <a:ext cx="3474720" cy="3017520"/>
        </p:xfrm>
        <a:graphic>
          <a:graphicData uri="http://schemas.openxmlformats.org/drawingml/2006/table">
            <a:tbl>
              <a:tblPr firstRow="1" bandRow="1">
                <a:tableStyleId>{5C22544A-7EE6-4342-B048-85BDC9FD1C3A}</a:tableStyleId>
              </a:tblPr>
              <a:tblGrid>
                <a:gridCol w="1554480"/>
                <a:gridCol w="868680"/>
                <a:gridCol w="1051560"/>
              </a:tblGrid>
              <a:tr h="502920">
                <a:tc>
                  <a:txBody>
                    <a:bodyPr wrap="none"/>
                    <a:lstStyle/>
                    <a:p>
                      <a:pPr>
                        <a:lnSpc>
                          <a:spcPts val="1760"/>
                        </a:lnSpc>
                        <a:spcBef>
                          <a:spcPts val="0"/>
                        </a:spcBef>
                        <a:spcAft>
                          <a:spcPts val="0"/>
                        </a:spcAft>
                        <a:defRPr sz="1600" b="1">
                          <a:solidFill>
                            <a:srgbClr val="162B42"/>
                          </a:solidFill>
                          <a:latin typeface="DejaVu Sans"/>
                        </a:defRPr>
                      </a:pPr>
                      <a:r>
                        <a:t>Method</a:t>
                      </a:r>
                    </a:p>
                  </a:txBody>
                  <a:tcPr marL="73152" marR="73152" marT="50292" marB="0" anchor="t">
                    <a:solidFill>
                      <a:srgbClr val="E3EFF0"/>
                    </a:solidFill>
                  </a:tcPr>
                </a:tc>
                <a:tc>
                  <a:txBody>
                    <a:bodyPr wrap="none"/>
                    <a:lstStyle/>
                    <a:p>
                      <a:pPr>
                        <a:lnSpc>
                          <a:spcPts val="1760"/>
                        </a:lnSpc>
                        <a:spcBef>
                          <a:spcPts val="0"/>
                        </a:spcBef>
                        <a:spcAft>
                          <a:spcPts val="0"/>
                        </a:spcAft>
                        <a:defRPr sz="1600" b="1">
                          <a:solidFill>
                            <a:srgbClr val="162B42"/>
                          </a:solidFill>
                          <a:latin typeface="DejaVu Sans"/>
                        </a:defRPr>
                      </a:pPr>
                      <a:r>
                        <a:t>Net %</a:t>
                      </a:r>
                    </a:p>
                  </a:txBody>
                  <a:tcPr marL="73152" marR="73152" marT="50292" marB="0" anchor="t">
                    <a:solidFill>
                      <a:srgbClr val="E3EFF0"/>
                    </a:solidFill>
                  </a:tcPr>
                </a:tc>
                <a:tc>
                  <a:txBody>
                    <a:bodyPr wrap="none"/>
                    <a:lstStyle/>
                    <a:p>
                      <a:pPr>
                        <a:lnSpc>
                          <a:spcPts val="1760"/>
                        </a:lnSpc>
                        <a:spcBef>
                          <a:spcPts val="0"/>
                        </a:spcBef>
                        <a:spcAft>
                          <a:spcPts val="0"/>
                        </a:spcAft>
                        <a:defRPr sz="1600" b="1">
                          <a:solidFill>
                            <a:srgbClr val="162B42"/>
                          </a:solidFill>
                          <a:latin typeface="DejaVu Sans"/>
                        </a:defRPr>
                      </a:pPr>
                      <a:r>
                        <a:t>Excess</a:t>
                      </a:r>
                      <a:br/>
                      <a:r>
                        <a:t>pp</a:t>
                      </a:r>
                    </a:p>
                  </a:txBody>
                  <a:tcPr marL="73152" marR="73152" marT="50292" marB="0" anchor="t">
                    <a:solidFill>
                      <a:srgbClr val="E3EFF0"/>
                    </a:solidFill>
                  </a:tcPr>
                </a:tc>
              </a:tr>
              <a:tr h="502920">
                <a:tc>
                  <a:txBody>
                    <a:bodyPr wrap="none"/>
                    <a:lstStyle/>
                    <a:p>
                      <a:pPr>
                        <a:lnSpc>
                          <a:spcPts val="1760"/>
                        </a:lnSpc>
                        <a:spcBef>
                          <a:spcPts val="0"/>
                        </a:spcBef>
                        <a:spcAft>
                          <a:spcPts val="0"/>
                        </a:spcAft>
                        <a:defRPr sz="1600" b="0">
                          <a:solidFill>
                            <a:srgbClr val="162B42"/>
                          </a:solidFill>
                          <a:latin typeface="DejaVu Sans"/>
                        </a:defRPr>
                      </a:pPr>
                      <a:r>
                        <a:t>Fundamental</a:t>
                      </a:r>
                    </a:p>
                  </a:txBody>
                  <a:tcPr marL="73152" marR="73152" marT="50292" marB="0" anchor="t">
                    <a:solidFill>
                      <a:srgbClr val="FFFFFF"/>
                    </a:solidFill>
                  </a:tcPr>
                </a:tc>
                <a:tc>
                  <a:txBody>
                    <a:bodyPr wrap="none"/>
                    <a:lstStyle/>
                    <a:p>
                      <a:pPr>
                        <a:lnSpc>
                          <a:spcPts val="1760"/>
                        </a:lnSpc>
                        <a:spcBef>
                          <a:spcPts val="0"/>
                        </a:spcBef>
                        <a:spcAft>
                          <a:spcPts val="0"/>
                        </a:spcAft>
                        <a:defRPr sz="1600" b="0">
                          <a:solidFill>
                            <a:srgbClr val="162B42"/>
                          </a:solidFill>
                          <a:latin typeface="DejaVu Sans"/>
                        </a:defRPr>
                      </a:pPr>
                      <a:r>
                        <a:t>3.53</a:t>
                      </a:r>
                    </a:p>
                  </a:txBody>
                  <a:tcPr marL="73152" marR="73152" marT="50292" marB="0" anchor="t">
                    <a:solidFill>
                      <a:srgbClr val="FFFFFF"/>
                    </a:solidFill>
                  </a:tcPr>
                </a:tc>
                <a:tc>
                  <a:txBody>
                    <a:bodyPr wrap="none"/>
                    <a:lstStyle/>
                    <a:p>
                      <a:pPr>
                        <a:lnSpc>
                          <a:spcPts val="1760"/>
                        </a:lnSpc>
                        <a:spcBef>
                          <a:spcPts val="0"/>
                        </a:spcBef>
                        <a:spcAft>
                          <a:spcPts val="0"/>
                        </a:spcAft>
                        <a:defRPr sz="1600" b="0">
                          <a:solidFill>
                            <a:srgbClr val="162B42"/>
                          </a:solidFill>
                          <a:latin typeface="DejaVu Sans"/>
                        </a:defRPr>
                      </a:pPr>
                      <a:r>
                        <a:t>-4.25</a:t>
                      </a:r>
                    </a:p>
                  </a:txBody>
                  <a:tcPr marL="73152" marR="73152" marT="50292" marB="0" anchor="t">
                    <a:solidFill>
                      <a:srgbClr val="FFFFFF"/>
                    </a:solidFill>
                  </a:tcPr>
                </a:tc>
              </a:tr>
              <a:tr h="502920">
                <a:tc>
                  <a:txBody>
                    <a:bodyPr wrap="none"/>
                    <a:lstStyle/>
                    <a:p>
                      <a:pPr>
                        <a:lnSpc>
                          <a:spcPts val="1760"/>
                        </a:lnSpc>
                        <a:spcBef>
                          <a:spcPts val="0"/>
                        </a:spcBef>
                        <a:spcAft>
                          <a:spcPts val="0"/>
                        </a:spcAft>
                        <a:defRPr sz="1600" b="0">
                          <a:solidFill>
                            <a:srgbClr val="162B42"/>
                          </a:solidFill>
                          <a:latin typeface="DejaVu Sans"/>
                        </a:defRPr>
                      </a:pPr>
                      <a:r>
                        <a:t>Combined</a:t>
                      </a:r>
                    </a:p>
                  </a:txBody>
                  <a:tcPr marL="73152" marR="73152" marT="50292" marB="0" anchor="t">
                    <a:solidFill>
                      <a:srgbClr val="FFFFFF"/>
                    </a:solidFill>
                  </a:tcPr>
                </a:tc>
                <a:tc>
                  <a:txBody>
                    <a:bodyPr wrap="none"/>
                    <a:lstStyle/>
                    <a:p>
                      <a:pPr>
                        <a:lnSpc>
                          <a:spcPts val="1760"/>
                        </a:lnSpc>
                        <a:spcBef>
                          <a:spcPts val="0"/>
                        </a:spcBef>
                        <a:spcAft>
                          <a:spcPts val="0"/>
                        </a:spcAft>
                        <a:defRPr sz="1600" b="0">
                          <a:solidFill>
                            <a:srgbClr val="162B42"/>
                          </a:solidFill>
                          <a:latin typeface="DejaVu Sans"/>
                        </a:defRPr>
                      </a:pPr>
                      <a:r>
                        <a:t>9.73</a:t>
                      </a:r>
                    </a:p>
                  </a:txBody>
                  <a:tcPr marL="73152" marR="73152" marT="50292" marB="0" anchor="t">
                    <a:solidFill>
                      <a:srgbClr val="FFFFFF"/>
                    </a:solidFill>
                  </a:tcPr>
                </a:tc>
                <a:tc>
                  <a:txBody>
                    <a:bodyPr wrap="none"/>
                    <a:lstStyle/>
                    <a:p>
                      <a:pPr>
                        <a:lnSpc>
                          <a:spcPts val="1760"/>
                        </a:lnSpc>
                        <a:spcBef>
                          <a:spcPts val="0"/>
                        </a:spcBef>
                        <a:spcAft>
                          <a:spcPts val="0"/>
                        </a:spcAft>
                        <a:defRPr sz="1600" b="0">
                          <a:solidFill>
                            <a:srgbClr val="162B42"/>
                          </a:solidFill>
                          <a:latin typeface="DejaVu Sans"/>
                        </a:defRPr>
                      </a:pPr>
                      <a:r>
                        <a:t>+1.33</a:t>
                      </a:r>
                    </a:p>
                  </a:txBody>
                  <a:tcPr marL="73152" marR="73152" marT="50292" marB="0" anchor="t">
                    <a:solidFill>
                      <a:srgbClr val="FFFFFF"/>
                    </a:solidFill>
                  </a:tcPr>
                </a:tc>
              </a:tr>
              <a:tr h="502920">
                <a:tc>
                  <a:txBody>
                    <a:bodyPr wrap="none"/>
                    <a:lstStyle/>
                    <a:p>
                      <a:pPr>
                        <a:lnSpc>
                          <a:spcPts val="1760"/>
                        </a:lnSpc>
                        <a:spcBef>
                          <a:spcPts val="0"/>
                        </a:spcBef>
                        <a:spcAft>
                          <a:spcPts val="0"/>
                        </a:spcAft>
                        <a:defRPr sz="1600" b="0">
                          <a:solidFill>
                            <a:srgbClr val="162B42"/>
                          </a:solidFill>
                          <a:latin typeface="DejaVu Sans"/>
                        </a:defRPr>
                      </a:pPr>
                      <a:r>
                        <a:t>Ridge</a:t>
                      </a:r>
                    </a:p>
                  </a:txBody>
                  <a:tcPr marL="73152" marR="73152" marT="50292" marB="0" anchor="t">
                    <a:solidFill>
                      <a:srgbClr val="EAF3F3"/>
                    </a:solidFill>
                  </a:tcPr>
                </a:tc>
                <a:tc>
                  <a:txBody>
                    <a:bodyPr wrap="none"/>
                    <a:lstStyle/>
                    <a:p>
                      <a:pPr>
                        <a:lnSpc>
                          <a:spcPts val="1760"/>
                        </a:lnSpc>
                        <a:spcBef>
                          <a:spcPts val="0"/>
                        </a:spcBef>
                        <a:spcAft>
                          <a:spcPts val="0"/>
                        </a:spcAft>
                        <a:defRPr sz="1600" b="0">
                          <a:solidFill>
                            <a:srgbClr val="162B42"/>
                          </a:solidFill>
                          <a:latin typeface="DejaVu Sans"/>
                        </a:defRPr>
                      </a:pPr>
                      <a:r>
                        <a:t>8.80</a:t>
                      </a:r>
                    </a:p>
                  </a:txBody>
                  <a:tcPr marL="73152" marR="73152" marT="50292" marB="0" anchor="t">
                    <a:solidFill>
                      <a:srgbClr val="EAF3F3"/>
                    </a:solidFill>
                  </a:tcPr>
                </a:tc>
                <a:tc>
                  <a:txBody>
                    <a:bodyPr wrap="none"/>
                    <a:lstStyle/>
                    <a:p>
                      <a:pPr>
                        <a:lnSpc>
                          <a:spcPts val="1760"/>
                        </a:lnSpc>
                        <a:spcBef>
                          <a:spcPts val="0"/>
                        </a:spcBef>
                        <a:spcAft>
                          <a:spcPts val="0"/>
                        </a:spcAft>
                        <a:defRPr sz="1600" b="0">
                          <a:solidFill>
                            <a:srgbClr val="162B42"/>
                          </a:solidFill>
                          <a:latin typeface="DejaVu Sans"/>
                        </a:defRPr>
                      </a:pPr>
                      <a:r>
                        <a:t>+0.56</a:t>
                      </a:r>
                    </a:p>
                  </a:txBody>
                  <a:tcPr marL="73152" marR="73152" marT="50292" marB="0" anchor="t">
                    <a:solidFill>
                      <a:srgbClr val="EAF3F3"/>
                    </a:solidFill>
                  </a:tcPr>
                </a:tc>
              </a:tr>
              <a:tr h="502920">
                <a:tc>
                  <a:txBody>
                    <a:bodyPr wrap="none"/>
                    <a:lstStyle/>
                    <a:p>
                      <a:pPr>
                        <a:lnSpc>
                          <a:spcPts val="1760"/>
                        </a:lnSpc>
                        <a:spcBef>
                          <a:spcPts val="0"/>
                        </a:spcBef>
                        <a:spcAft>
                          <a:spcPts val="0"/>
                        </a:spcAft>
                        <a:defRPr sz="1600" b="0">
                          <a:solidFill>
                            <a:srgbClr val="162B42"/>
                          </a:solidFill>
                          <a:latin typeface="DejaVu Sans"/>
                        </a:defRPr>
                      </a:pPr>
                      <a:r>
                        <a:t>LightGBM</a:t>
                      </a:r>
                    </a:p>
                  </a:txBody>
                  <a:tcPr marL="73152" marR="73152" marT="50292" marB="0" anchor="t">
                    <a:solidFill>
                      <a:srgbClr val="FFFFFF"/>
                    </a:solidFill>
                  </a:tcPr>
                </a:tc>
                <a:tc>
                  <a:txBody>
                    <a:bodyPr wrap="none"/>
                    <a:lstStyle/>
                    <a:p>
                      <a:pPr>
                        <a:lnSpc>
                          <a:spcPts val="1760"/>
                        </a:lnSpc>
                        <a:spcBef>
                          <a:spcPts val="0"/>
                        </a:spcBef>
                        <a:spcAft>
                          <a:spcPts val="0"/>
                        </a:spcAft>
                        <a:defRPr sz="1600" b="0">
                          <a:solidFill>
                            <a:srgbClr val="162B42"/>
                          </a:solidFill>
                          <a:latin typeface="DejaVu Sans"/>
                        </a:defRPr>
                      </a:pPr>
                      <a:r>
                        <a:t>5.56</a:t>
                      </a:r>
                    </a:p>
                  </a:txBody>
                  <a:tcPr marL="73152" marR="73152" marT="50292" marB="0" anchor="t">
                    <a:solidFill>
                      <a:srgbClr val="FFFFFF"/>
                    </a:solidFill>
                  </a:tcPr>
                </a:tc>
                <a:tc>
                  <a:txBody>
                    <a:bodyPr wrap="none"/>
                    <a:lstStyle/>
                    <a:p>
                      <a:pPr>
                        <a:lnSpc>
                          <a:spcPts val="1760"/>
                        </a:lnSpc>
                        <a:spcBef>
                          <a:spcPts val="0"/>
                        </a:spcBef>
                        <a:spcAft>
                          <a:spcPts val="0"/>
                        </a:spcAft>
                        <a:defRPr sz="1600" b="0">
                          <a:solidFill>
                            <a:srgbClr val="162B42"/>
                          </a:solidFill>
                          <a:latin typeface="DejaVu Sans"/>
                        </a:defRPr>
                      </a:pPr>
                      <a:r>
                        <a:t>-2.40</a:t>
                      </a:r>
                    </a:p>
                  </a:txBody>
                  <a:tcPr marL="73152" marR="73152" marT="50292" marB="0" anchor="t">
                    <a:solidFill>
                      <a:srgbClr val="FFFFFF"/>
                    </a:solidFill>
                  </a:tcPr>
                </a:tc>
              </a:tr>
              <a:tr h="502920">
                <a:tc>
                  <a:txBody>
                    <a:bodyPr wrap="none"/>
                    <a:lstStyle/>
                    <a:p>
                      <a:pPr>
                        <a:lnSpc>
                          <a:spcPts val="1760"/>
                        </a:lnSpc>
                        <a:spcBef>
                          <a:spcPts val="0"/>
                        </a:spcBef>
                        <a:spcAft>
                          <a:spcPts val="0"/>
                        </a:spcAft>
                        <a:defRPr sz="1600" b="0">
                          <a:solidFill>
                            <a:srgbClr val="162B42"/>
                          </a:solidFill>
                          <a:latin typeface="DejaVu Sans"/>
                        </a:defRPr>
                      </a:pPr>
                      <a:r>
                        <a:t>Benchmark</a:t>
                      </a:r>
                    </a:p>
                  </a:txBody>
                  <a:tcPr marL="73152" marR="73152" marT="50292" marB="0" anchor="t">
                    <a:solidFill>
                      <a:srgbClr val="FFFFFF"/>
                    </a:solidFill>
                  </a:tcPr>
                </a:tc>
                <a:tc>
                  <a:txBody>
                    <a:bodyPr wrap="none"/>
                    <a:lstStyle/>
                    <a:p>
                      <a:pPr>
                        <a:lnSpc>
                          <a:spcPts val="1760"/>
                        </a:lnSpc>
                        <a:spcBef>
                          <a:spcPts val="0"/>
                        </a:spcBef>
                        <a:spcAft>
                          <a:spcPts val="0"/>
                        </a:spcAft>
                        <a:defRPr sz="1600" b="0">
                          <a:solidFill>
                            <a:srgbClr val="162B42"/>
                          </a:solidFill>
                          <a:latin typeface="DejaVu Sans"/>
                        </a:defRPr>
                      </a:pPr>
                      <a:r>
                        <a:t>8.18</a:t>
                      </a:r>
                    </a:p>
                  </a:txBody>
                  <a:tcPr marL="73152" marR="73152" marT="50292" marB="0" anchor="t">
                    <a:solidFill>
                      <a:srgbClr val="FFFFFF"/>
                    </a:solidFill>
                  </a:tcPr>
                </a:tc>
                <a:tc>
                  <a:txBody>
                    <a:bodyPr wrap="none"/>
                    <a:lstStyle/>
                    <a:p>
                      <a:pPr>
                        <a:lnSpc>
                          <a:spcPts val="1760"/>
                        </a:lnSpc>
                        <a:spcBef>
                          <a:spcPts val="0"/>
                        </a:spcBef>
                        <a:spcAft>
                          <a:spcPts val="0"/>
                        </a:spcAft>
                        <a:defRPr sz="1600" b="0">
                          <a:solidFill>
                            <a:srgbClr val="162B42"/>
                          </a:solidFill>
                          <a:latin typeface="DejaVu Sans"/>
                        </a:defRPr>
                      </a:pPr>
                      <a:r>
                        <a:t>+0.00</a:t>
                      </a:r>
                    </a:p>
                  </a:txBody>
                  <a:tcPr marL="73152" marR="73152" marT="50292" marB="0" anchor="t">
                    <a:solidFill>
                      <a:srgbClr val="FFFFFF"/>
                    </a:solidFill>
                  </a:tcPr>
                </a:tc>
              </a:tr>
            </a:tbl>
          </a:graphicData>
        </a:graphic>
      </p:graphicFrame>
      <p:sp>
        <p:nvSpPr>
          <p:cNvPr id="9" name="TextBox 8"/>
          <p:cNvSpPr txBox="1"/>
          <p:nvPr/>
        </p:nvSpPr>
        <p:spPr>
          <a:xfrm>
            <a:off x="8284464" y="5340096"/>
            <a:ext cx="3310128" cy="457200"/>
          </a:xfrm>
          <a:prstGeom prst="rect">
            <a:avLst/>
          </a:prstGeom>
          <a:noFill/>
        </p:spPr>
        <p:txBody>
          <a:bodyPr wrap="none" tIns="0" bIns="0" lIns="0" rIns="0" anchor="t">
            <a:spAutoFit/>
          </a:bodyPr>
          <a:lstStyle/>
          <a:p>
            <a:pPr algn="l">
              <a:lnSpc>
                <a:spcPts val="1456"/>
              </a:lnSpc>
              <a:spcBef>
                <a:spcPts val="0"/>
              </a:spcBef>
              <a:spcAft>
                <a:spcPts val="0"/>
              </a:spcAft>
              <a:defRPr sz="1300" b="0">
                <a:solidFill>
                  <a:srgbClr val="657489"/>
                </a:solidFill>
                <a:latin typeface="DejaVu Sans"/>
              </a:defRPr>
            </a:pPr>
            <a:r>
              <a:t>Excess is a daily sum versus the</a:t>
            </a:r>
            <a:br/>
            <a:r>
              <a:t>matching-cost benchmark.</a:t>
            </a:r>
          </a:p>
        </p:txBody>
      </p:sp>
      <p:sp>
        <p:nvSpPr>
          <p:cNvPr id="10" name="TextBox 9"/>
          <p:cNvSpPr txBox="1"/>
          <p:nvPr/>
        </p:nvSpPr>
        <p:spPr>
          <a:xfrm>
            <a:off x="594360" y="5879592"/>
            <a:ext cx="10972800" cy="39319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Implementation choices affect both realised return and costs.</a:t>
            </a:r>
          </a:p>
        </p:txBody>
      </p:sp>
      <p:sp>
        <p:nvSpPr>
          <p:cNvPr id="11" name="TextBox 10"/>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2" name="TextBox 11"/>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sp>
        <p:nvSpPr>
          <p:cNvPr id="2" name="TextBox 1"/>
          <p:cNvSpPr txBox="1"/>
          <p:nvPr/>
        </p:nvSpPr>
        <p:spPr>
          <a:xfrm>
            <a:off x="502920" y="219456"/>
            <a:ext cx="10515600" cy="201168"/>
          </a:xfrm>
          <a:prstGeom prst="rect">
            <a:avLst/>
          </a:prstGeom>
          <a:noFill/>
        </p:spPr>
        <p:txBody>
          <a:bodyPr wrap="none" tIns="0" bIns="0" lIns="0" rIns="0" anchor="t">
            <a:spAutoFit/>
          </a:bodyPr>
          <a:lstStyle/>
          <a:p>
            <a:pPr algn="l">
              <a:lnSpc>
                <a:spcPts val="1120"/>
              </a:lnSpc>
              <a:spcBef>
                <a:spcPts val="0"/>
              </a:spcBef>
              <a:spcAft>
                <a:spcPts val="0"/>
              </a:spcAft>
              <a:defRPr sz="1000" b="1">
                <a:solidFill>
                  <a:srgbClr val="137F82"/>
                </a:solidFill>
                <a:latin typeface="DejaVu Sans"/>
              </a:defRPr>
            </a:pPr>
            <a:r>
              <a:t>GROUP 09 / INVESTMENTS 1005</a:t>
            </a:r>
          </a:p>
        </p:txBody>
      </p:sp>
      <p:sp>
        <p:nvSpPr>
          <p:cNvPr id="3" name="TextBox 2"/>
          <p:cNvSpPr txBox="1"/>
          <p:nvPr/>
        </p:nvSpPr>
        <p:spPr>
          <a:xfrm>
            <a:off x="502920" y="576072"/>
            <a:ext cx="11155680" cy="502920"/>
          </a:xfrm>
          <a:prstGeom prst="rect">
            <a:avLst/>
          </a:prstGeom>
          <a:noFill/>
        </p:spPr>
        <p:txBody>
          <a:bodyPr wrap="none" tIns="0" bIns="0" lIns="0" rIns="0" anchor="t">
            <a:spAutoFit/>
          </a:bodyPr>
          <a:lstStyle/>
          <a:p>
            <a:pPr algn="l">
              <a:lnSpc>
                <a:spcPts val="3136"/>
              </a:lnSpc>
              <a:spcBef>
                <a:spcPts val="0"/>
              </a:spcBef>
              <a:spcAft>
                <a:spcPts val="0"/>
              </a:spcAft>
              <a:defRPr sz="2800" b="1">
                <a:solidFill>
                  <a:srgbClr val="162B42"/>
                </a:solidFill>
                <a:latin typeface="DejaVu Sans"/>
              </a:defRPr>
            </a:pPr>
            <a:r>
              <a:t>Conclusions and the limits of the evidence</a:t>
            </a:r>
          </a:p>
        </p:txBody>
      </p:sp>
      <p:sp>
        <p:nvSpPr>
          <p:cNvPr id="4" name="TextBox 3"/>
          <p:cNvSpPr txBox="1"/>
          <p:nvPr/>
        </p:nvSpPr>
        <p:spPr>
          <a:xfrm>
            <a:off x="502920" y="1170432"/>
            <a:ext cx="11155680" cy="384048"/>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Actual historical data through 29 Apr 2026; no promise of future performance</a:t>
            </a:r>
          </a:p>
        </p:txBody>
      </p:sp>
      <p:sp>
        <p:nvSpPr>
          <p:cNvPr id="5" name="Rounded Rectangle 4"/>
          <p:cNvSpPr/>
          <p:nvPr/>
        </p:nvSpPr>
        <p:spPr>
          <a:xfrm>
            <a:off x="502920" y="1828800"/>
            <a:ext cx="7315200" cy="372160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84831"/>
            <a:ext cx="6876288" cy="65836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1. Ridge beats the matched benchmark over</a:t>
            </a:r>
            <a:br/>
            <a:r>
              <a:t>2021–2025.</a:t>
            </a:r>
          </a:p>
        </p:txBody>
      </p:sp>
      <p:sp>
        <p:nvSpPr>
          <p:cNvPr id="7" name="TextBox 6"/>
          <p:cNvSpPr txBox="1"/>
          <p:nvPr/>
        </p:nvSpPr>
        <p:spPr>
          <a:xfrm>
            <a:off x="722376" y="2834639"/>
            <a:ext cx="6876288" cy="65836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2. The latest-year net excess is +0.56 pp.</a:t>
            </a:r>
          </a:p>
        </p:txBody>
      </p:sp>
      <p:sp>
        <p:nvSpPr>
          <p:cNvPr id="8" name="TextBox 7"/>
          <p:cNvSpPr txBox="1"/>
          <p:nvPr/>
        </p:nvSpPr>
        <p:spPr>
          <a:xfrm>
            <a:off x="722376" y="3584448"/>
            <a:ext cx="6876288" cy="65836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3. Score residualization does not make holdings style</a:t>
            </a:r>
            <a:br/>
            <a:r>
              <a:t>neutral.</a:t>
            </a:r>
          </a:p>
        </p:txBody>
      </p:sp>
      <p:sp>
        <p:nvSpPr>
          <p:cNvPr id="9" name="TextBox 8"/>
          <p:cNvSpPr txBox="1"/>
          <p:nvPr/>
        </p:nvSpPr>
        <p:spPr>
          <a:xfrm>
            <a:off x="722376" y="4334256"/>
            <a:ext cx="6876288" cy="65836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4. Vendor revisions and execution assumptions</a:t>
            </a:r>
            <a:br/>
            <a:r>
              <a:t>remain limits.</a:t>
            </a:r>
          </a:p>
        </p:txBody>
      </p:sp>
      <p:sp>
        <p:nvSpPr>
          <p:cNvPr id="10" name="TextBox 9"/>
          <p:cNvSpPr txBox="1"/>
          <p:nvPr/>
        </p:nvSpPr>
        <p:spPr>
          <a:xfrm>
            <a:off x="8211312" y="1719072"/>
            <a:ext cx="347472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162B42"/>
                </a:solidFill>
                <a:latin typeface="DejaVu Sans"/>
              </a:defRPr>
            </a:pPr>
            <a:r>
              <a:t>ACTUAL FINAL CAPITAL WEIGHTS</a:t>
            </a:r>
          </a:p>
        </p:txBody>
      </p:sp>
      <p:pic>
        <p:nvPicPr>
          <p:cNvPr id="11" name="Picture 10" descr="cap_weights_slide.png"/>
          <p:cNvPicPr>
            <a:picLocks noChangeAspect="1"/>
          </p:cNvPicPr>
          <p:nvPr/>
        </p:nvPicPr>
        <p:blipFill>
          <a:blip r:embed="rId2"/>
          <a:stretch>
            <a:fillRect/>
          </a:stretch>
        </p:blipFill>
        <p:spPr>
          <a:xfrm>
            <a:off x="8211312" y="2084831"/>
            <a:ext cx="3474720" cy="3108960"/>
          </a:xfrm>
          <a:prstGeom prst="rect">
            <a:avLst/>
          </a:prstGeom>
        </p:spPr>
      </p:pic>
      <p:sp>
        <p:nvSpPr>
          <p:cNvPr id="12" name="TextBox 11"/>
          <p:cNvSpPr txBox="1"/>
          <p:nvPr/>
        </p:nvSpPr>
        <p:spPr>
          <a:xfrm>
            <a:off x="8211312" y="5431536"/>
            <a:ext cx="3474720" cy="274320"/>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57489"/>
                </a:solidFill>
                <a:latin typeface="DejaVu Sans"/>
              </a:defRPr>
            </a:pPr>
            <a:r>
              <a:t>Q3: Ridge 27.0%; benchmark 19.4%.</a:t>
            </a:r>
          </a:p>
        </p:txBody>
      </p:sp>
      <p:sp>
        <p:nvSpPr>
          <p:cNvPr id="13" name="TextBox 12"/>
          <p:cNvSpPr txBox="1"/>
          <p:nvPr/>
        </p:nvSpPr>
        <p:spPr>
          <a:xfrm>
            <a:off x="594360" y="5879592"/>
            <a:ext cx="10972800" cy="39319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62B42"/>
                </a:solidFill>
                <a:latin typeface="DejaVu Sans"/>
              </a:defRPr>
            </a:pPr>
            <a:r>
              <a:t>Judge return, risk and implementation together.</a:t>
            </a:r>
          </a:p>
        </p:txBody>
      </p:sp>
      <p:sp>
        <p:nvSpPr>
          <p:cNvPr id="14" name="TextBox 13"/>
          <p:cNvSpPr txBox="1"/>
          <p:nvPr/>
        </p:nvSpPr>
        <p:spPr>
          <a:xfrm>
            <a:off x="502920" y="6519672"/>
            <a:ext cx="10698480" cy="182880"/>
          </a:xfrm>
          <a:prstGeom prst="rect">
            <a:avLst/>
          </a:prstGeom>
          <a:noFill/>
        </p:spPr>
        <p:txBody>
          <a:bodyPr wrap="none" tIns="0" bIns="0" lIns="0" rIns="0" anchor="t">
            <a:spAutoFit/>
          </a:bodyPr>
          <a:lstStyle/>
          <a:p>
            <a:pPr algn="l">
              <a:lnSpc>
                <a:spcPts val="1120"/>
              </a:lnSpc>
              <a:spcBef>
                <a:spcPts val="0"/>
              </a:spcBef>
              <a:spcAft>
                <a:spcPts val="0"/>
              </a:spcAft>
              <a:defRPr sz="1000" b="0">
                <a:solidFill>
                  <a:srgbClr val="657489"/>
                </a:solidFill>
                <a:latin typeface="DejaVu Sans"/>
              </a:defRPr>
            </a:pPr>
            <a:r>
              <a:t>Matched costs and historical pool. Absolute returns compound; excess sums daily differences.</a:t>
            </a:r>
          </a:p>
        </p:txBody>
      </p:sp>
      <p:sp>
        <p:nvSpPr>
          <p:cNvPr id="15" name="TextBox 14"/>
          <p:cNvSpPr txBox="1"/>
          <p:nvPr/>
        </p:nvSpPr>
        <p:spPr>
          <a:xfrm>
            <a:off x="11201400" y="6501384"/>
            <a:ext cx="457200" cy="219456"/>
          </a:xfrm>
          <a:prstGeom prst="rect">
            <a:avLst/>
          </a:prstGeom>
          <a:noFill/>
        </p:spPr>
        <p:txBody>
          <a:bodyPr wrap="none" tIns="0" bIns="0" lIns="0" rIns="0" anchor="t">
            <a:spAutoFit/>
          </a:bodyPr>
          <a:lstStyle/>
          <a:p>
            <a:pPr algn="l">
              <a:lnSpc>
                <a:spcPts val="1232"/>
              </a:lnSpc>
              <a:spcBef>
                <a:spcPts val="0"/>
              </a:spcBef>
              <a:spcAft>
                <a:spcPts val="0"/>
              </a:spcAft>
              <a:defRPr sz="1100" b="1">
                <a:solidFill>
                  <a:srgbClr val="137F82"/>
                </a:solidFill>
                <a:latin typeface="DejaVu Sans"/>
              </a:defRPr>
            </a:pPr>
            <a: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Group 9 | A-share cross-sectional strategy</dc:title>
  <dc:subject>Fixed strategy, complete historical evidence and implementation limits</dc:subject>
  <dc:creator>Group 9</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